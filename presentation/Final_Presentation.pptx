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78978" y="6232198"/>
            <a:ext cx="258623" cy="248304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1.png"/><Relationship Id="rId7" Type="http://schemas.openxmlformats.org/officeDocument/2006/relationships/image" Target="../media/image5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21295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" name="Text 7"/>
          <p:cNvSpPr txBox="1"/>
          <p:nvPr/>
        </p:nvSpPr>
        <p:spPr>
          <a:xfrm>
            <a:off x="731519" y="1642680"/>
            <a:ext cx="91440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400">
                <a:solidFill>
                  <a:srgbClr val="7FD1E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AUTOMATED SEISMIC DATA PROCESSING</a:t>
            </a:r>
          </a:p>
        </p:txBody>
      </p:sp>
      <p:sp>
        <p:nvSpPr>
          <p:cNvPr id="22" name="Text 8"/>
          <p:cNvSpPr txBox="1"/>
          <p:nvPr/>
        </p:nvSpPr>
        <p:spPr>
          <a:xfrm>
            <a:off x="731519" y="2160270"/>
            <a:ext cx="10515601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First Break Picking</a:t>
            </a:r>
          </a:p>
        </p:txBody>
      </p:sp>
      <p:sp>
        <p:nvSpPr>
          <p:cNvPr id="23" name="Text 9"/>
          <p:cNvSpPr txBox="1"/>
          <p:nvPr/>
        </p:nvSpPr>
        <p:spPr>
          <a:xfrm>
            <a:off x="731519" y="3151702"/>
            <a:ext cx="8686801" cy="463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600">
                <a:solidFill>
                  <a:srgbClr val="C7D9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Developing an automated algorithm to detect first-break arrival times in seismic traces</a:t>
            </a:r>
          </a:p>
          <a:p>
            <a:pPr>
              <a:defRPr sz="1600">
                <a:solidFill>
                  <a:srgbClr val="C7D9E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Team name : Teenage mutant ninja turtles </a:t>
            </a:r>
          </a:p>
        </p:txBody>
      </p:sp>
      <p:sp>
        <p:nvSpPr>
          <p:cNvPr id="24" name="Shape 10"/>
          <p:cNvSpPr/>
          <p:nvPr/>
        </p:nvSpPr>
        <p:spPr>
          <a:xfrm>
            <a:off x="731519" y="3886200"/>
            <a:ext cx="2011679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" name="Text 11"/>
          <p:cNvSpPr txBox="1"/>
          <p:nvPr/>
        </p:nvSpPr>
        <p:spPr>
          <a:xfrm>
            <a:off x="731519" y="6097708"/>
            <a:ext cx="8229601" cy="3318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100">
                <a:solidFill>
                  <a:srgbClr val="9FB3C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Project Team</a:t>
            </a:r>
          </a:p>
          <a:p>
            <a:pPr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Brunswick · Halfmile · Lalor · Sudbury seismic assets</a:t>
            </a:r>
          </a:p>
        </p:txBody>
      </p:sp>
      <p:sp>
        <p:nvSpPr>
          <p:cNvPr id="26" name="Text 12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9FB3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9" name="Text 1"/>
          <p:cNvSpPr txBox="1"/>
          <p:nvPr/>
        </p:nvSpPr>
        <p:spPr>
          <a:xfrm>
            <a:off x="487680" y="384199"/>
            <a:ext cx="10972801" cy="450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4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Team Contributions</a:t>
            </a:r>
          </a:p>
        </p:txBody>
      </p:sp>
      <p:sp>
        <p:nvSpPr>
          <p:cNvPr id="30" name="Shape 2"/>
          <p:cNvSpPr/>
          <p:nvPr/>
        </p:nvSpPr>
        <p:spPr>
          <a:xfrm>
            <a:off x="756400" y="1402082"/>
            <a:ext cx="1875428" cy="457199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>
            <a:outerShdw sx="100000" sy="100000" kx="0" ky="0" algn="b" rotWithShape="0" blurRad="101600" dist="25400" dir="8100000">
              <a:srgbClr val="000000">
                <a:alpha val="8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" name="Shape 3"/>
          <p:cNvSpPr/>
          <p:nvPr/>
        </p:nvSpPr>
        <p:spPr>
          <a:xfrm>
            <a:off x="747823" y="1402080"/>
            <a:ext cx="1892582" cy="9753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" name="Text 6"/>
          <p:cNvSpPr txBox="1"/>
          <p:nvPr/>
        </p:nvSpPr>
        <p:spPr>
          <a:xfrm>
            <a:off x="756399" y="3060421"/>
            <a:ext cx="1875429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33415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Ferman Khankishiyev</a:t>
            </a:r>
          </a:p>
        </p:txBody>
      </p:sp>
      <p:sp>
        <p:nvSpPr>
          <p:cNvPr id="33" name="Shape 17"/>
          <p:cNvSpPr/>
          <p:nvPr/>
        </p:nvSpPr>
        <p:spPr>
          <a:xfrm>
            <a:off x="2802115" y="1402083"/>
            <a:ext cx="2017715" cy="457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>
            <a:outerShdw sx="100000" sy="100000" kx="0" ky="0" algn="b" rotWithShape="0" blurRad="101600" dist="25400" dir="8100000">
              <a:srgbClr val="000000">
                <a:alpha val="8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4" name="Shape 18"/>
          <p:cNvSpPr/>
          <p:nvPr/>
        </p:nvSpPr>
        <p:spPr>
          <a:xfrm>
            <a:off x="2802115" y="1402080"/>
            <a:ext cx="2017715" cy="9753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5" name="Text 21"/>
          <p:cNvSpPr txBox="1"/>
          <p:nvPr/>
        </p:nvSpPr>
        <p:spPr>
          <a:xfrm>
            <a:off x="2808525" y="3060421"/>
            <a:ext cx="2004896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33415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Bayram Bayramov</a:t>
            </a:r>
          </a:p>
        </p:txBody>
      </p:sp>
      <p:sp>
        <p:nvSpPr>
          <p:cNvPr id="36" name="Shape 32"/>
          <p:cNvSpPr/>
          <p:nvPr/>
        </p:nvSpPr>
        <p:spPr>
          <a:xfrm>
            <a:off x="5027845" y="1402083"/>
            <a:ext cx="2122297" cy="457200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>
            <a:outerShdw sx="100000" sy="100000" kx="0" ky="0" algn="b" rotWithShape="0" blurRad="101600" dist="25400" dir="8100000">
              <a:srgbClr val="000000">
                <a:alpha val="8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" name="Shape 33"/>
          <p:cNvSpPr/>
          <p:nvPr/>
        </p:nvSpPr>
        <p:spPr>
          <a:xfrm>
            <a:off x="5008429" y="1402080"/>
            <a:ext cx="2161128" cy="9753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8" name="Text 36"/>
          <p:cNvSpPr txBox="1"/>
          <p:nvPr/>
        </p:nvSpPr>
        <p:spPr>
          <a:xfrm>
            <a:off x="5011037" y="3060421"/>
            <a:ext cx="2134997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334155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Mahmud Ramazanov</a:t>
            </a:r>
          </a:p>
        </p:txBody>
      </p:sp>
      <p:sp>
        <p:nvSpPr>
          <p:cNvPr id="39" name="Text 38"/>
          <p:cNvSpPr txBox="1"/>
          <p:nvPr/>
        </p:nvSpPr>
        <p:spPr>
          <a:xfrm>
            <a:off x="7839440" y="3395393"/>
            <a:ext cx="1584962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33% commits</a:t>
            </a:r>
          </a:p>
        </p:txBody>
      </p:sp>
      <p:pic>
        <p:nvPicPr>
          <p:cNvPr id="40" name="Picture 51" descr="Picture 5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2324" y="1615242"/>
            <a:ext cx="1323396" cy="1319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7" y="0"/>
                </a:moveTo>
                <a:cubicBezTo>
                  <a:pt x="4834" y="0"/>
                  <a:pt x="0" y="4837"/>
                  <a:pt x="0" y="10800"/>
                </a:cubicBezTo>
                <a:cubicBezTo>
                  <a:pt x="0" y="16763"/>
                  <a:pt x="4834" y="21600"/>
                  <a:pt x="10797" y="21600"/>
                </a:cubicBezTo>
                <a:cubicBezTo>
                  <a:pt x="16760" y="21600"/>
                  <a:pt x="21600" y="16763"/>
                  <a:pt x="21600" y="10800"/>
                </a:cubicBezTo>
                <a:cubicBezTo>
                  <a:pt x="21600" y="4837"/>
                  <a:pt x="16760" y="0"/>
                  <a:pt x="10797" y="0"/>
                </a:cubicBezTo>
                <a:close/>
              </a:path>
            </a:pathLst>
          </a:custGeom>
          <a:ln w="28575">
            <a:solidFill>
              <a:srgbClr val="8FAADC"/>
            </a:solidFill>
          </a:ln>
        </p:spPr>
      </p:pic>
      <p:pic>
        <p:nvPicPr>
          <p:cNvPr id="41" name="Picture 53" descr="Picture 53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3151961" y="1614447"/>
            <a:ext cx="1317858" cy="1320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7" y="0"/>
                </a:moveTo>
                <a:cubicBezTo>
                  <a:pt x="4833" y="0"/>
                  <a:pt x="0" y="4835"/>
                  <a:pt x="0" y="10800"/>
                </a:cubicBezTo>
                <a:cubicBezTo>
                  <a:pt x="0" y="16765"/>
                  <a:pt x="4833" y="21600"/>
                  <a:pt x="10797" y="21600"/>
                </a:cubicBezTo>
                <a:cubicBezTo>
                  <a:pt x="16760" y="21600"/>
                  <a:pt x="21600" y="16765"/>
                  <a:pt x="21600" y="10800"/>
                </a:cubicBezTo>
                <a:cubicBezTo>
                  <a:pt x="21600" y="4835"/>
                  <a:pt x="16760" y="0"/>
                  <a:pt x="10797" y="0"/>
                </a:cubicBezTo>
                <a:close/>
              </a:path>
            </a:pathLst>
          </a:custGeom>
          <a:ln w="28575">
            <a:solidFill>
              <a:srgbClr val="F4B183"/>
            </a:solidFill>
          </a:ln>
        </p:spPr>
      </p:pic>
      <p:pic>
        <p:nvPicPr>
          <p:cNvPr id="42" name="Picture 55" descr="Picture 55"/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5428591" y="1650070"/>
            <a:ext cx="1320801" cy="1320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28575">
            <a:solidFill>
              <a:srgbClr val="A9D18E"/>
            </a:solidFill>
          </a:ln>
        </p:spPr>
      </p:pic>
      <p:sp>
        <p:nvSpPr>
          <p:cNvPr id="43" name="TextBox 10"/>
          <p:cNvSpPr txBox="1"/>
          <p:nvPr/>
        </p:nvSpPr>
        <p:spPr>
          <a:xfrm>
            <a:off x="768362" y="3460185"/>
            <a:ext cx="1851506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Team Lead</a:t>
            </a:r>
          </a:p>
        </p:txBody>
      </p:sp>
      <p:sp>
        <p:nvSpPr>
          <p:cNvPr id="44" name="TextBox 11"/>
          <p:cNvSpPr txBox="1"/>
          <p:nvPr/>
        </p:nvSpPr>
        <p:spPr>
          <a:xfrm>
            <a:off x="2808525" y="3460185"/>
            <a:ext cx="2004896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Developer Lead</a:t>
            </a:r>
          </a:p>
        </p:txBody>
      </p:sp>
      <p:sp>
        <p:nvSpPr>
          <p:cNvPr id="45" name="TextBox 12"/>
          <p:cNvSpPr txBox="1"/>
          <p:nvPr/>
        </p:nvSpPr>
        <p:spPr>
          <a:xfrm>
            <a:off x="5021493" y="3460185"/>
            <a:ext cx="2134997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Developer &amp; Researcher</a:t>
            </a:r>
          </a:p>
        </p:txBody>
      </p:sp>
      <p:sp>
        <p:nvSpPr>
          <p:cNvPr id="46" name="Shape 32"/>
          <p:cNvSpPr/>
          <p:nvPr/>
        </p:nvSpPr>
        <p:spPr>
          <a:xfrm>
            <a:off x="7311851" y="1426469"/>
            <a:ext cx="1838806" cy="4571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>
            <a:outerShdw sx="100000" sy="100000" kx="0" ky="0" algn="b" rotWithShape="0" blurRad="101600" dist="25400" dir="8100000">
              <a:srgbClr val="000000">
                <a:alpha val="8000"/>
              </a:srgbClr>
            </a:outerShdw>
          </a:effectLst>
        </p:spPr>
        <p:txBody>
          <a:bodyPr lIns="45718" tIns="45718" rIns="45718" bIns="45718"/>
          <a:lstStyle/>
          <a:p>
            <a:pPr algn="ctr">
              <a:defRPr sz="1400"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" name="Shape 33"/>
          <p:cNvSpPr/>
          <p:nvPr/>
        </p:nvSpPr>
        <p:spPr>
          <a:xfrm>
            <a:off x="7294697" y="1402080"/>
            <a:ext cx="1873114" cy="9753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10B98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8" name="Metin kutusu 23"/>
          <p:cNvSpPr txBox="1"/>
          <p:nvPr/>
        </p:nvSpPr>
        <p:spPr>
          <a:xfrm>
            <a:off x="7305501" y="3396908"/>
            <a:ext cx="1851506" cy="5093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400">
                <a:latin typeface="+mj-lt"/>
                <a:ea typeface="+mj-ea"/>
                <a:cs typeface="+mj-cs"/>
                <a:sym typeface="Calibri"/>
              </a:defRPr>
            </a:pPr>
            <a:r>
              <a:t>Documentation Lead</a:t>
            </a:r>
          </a:p>
          <a:p>
            <a:pPr algn="ctr">
              <a:defRPr sz="1400">
                <a:latin typeface="+mj-lt"/>
                <a:ea typeface="+mj-ea"/>
                <a:cs typeface="+mj-cs"/>
                <a:sym typeface="Calibri"/>
              </a:defRPr>
            </a:pPr>
            <a:r>
              <a:t>Developer &amp; Researcher</a:t>
            </a:r>
          </a:p>
        </p:txBody>
      </p:sp>
      <p:pic>
        <p:nvPicPr>
          <p:cNvPr id="49" name="Picture 16" descr="Picture 16"/>
          <p:cNvPicPr>
            <a:picLocks noChangeAspect="1"/>
          </p:cNvPicPr>
          <p:nvPr/>
        </p:nvPicPr>
        <p:blipFill>
          <a:blip r:embed="rId5">
            <a:extLst/>
          </a:blip>
          <a:srcRect l="0" t="0" r="3588" b="28759"/>
          <a:stretch>
            <a:fillRect/>
          </a:stretch>
        </p:blipFill>
        <p:spPr>
          <a:xfrm>
            <a:off x="7570851" y="1628139"/>
            <a:ext cx="1348583" cy="1320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28575">
            <a:solidFill>
              <a:schemeClr val="accent2"/>
            </a:solidFill>
          </a:ln>
        </p:spPr>
      </p:pic>
      <p:sp>
        <p:nvSpPr>
          <p:cNvPr id="50" name="TextBox 15"/>
          <p:cNvSpPr txBox="1"/>
          <p:nvPr/>
        </p:nvSpPr>
        <p:spPr>
          <a:xfrm>
            <a:off x="7305501" y="2988557"/>
            <a:ext cx="1851505" cy="33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b="1" sz="1400">
                <a:solidFill>
                  <a:srgbClr val="404040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Murad</a:t>
            </a:r>
            <a:r>
              <a:rPr sz="1800"/>
              <a:t> </a:t>
            </a:r>
            <a:r>
              <a:t>Taghizade</a:t>
            </a:r>
          </a:p>
        </p:txBody>
      </p:sp>
      <p:pic>
        <p:nvPicPr>
          <p:cNvPr id="51" name="Picture 17" descr="Picture 17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0933355" y="-22762"/>
            <a:ext cx="1308849" cy="1308849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Shape 32"/>
          <p:cNvSpPr/>
          <p:nvPr/>
        </p:nvSpPr>
        <p:spPr>
          <a:xfrm>
            <a:off x="9336275" y="1426467"/>
            <a:ext cx="1838806" cy="457199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>
            <a:outerShdw sx="100000" sy="100000" kx="0" ky="0" algn="b" rotWithShape="0" blurRad="101600" dist="25400" dir="8100000">
              <a:srgbClr val="000000">
                <a:alpha val="8000"/>
              </a:srgbClr>
            </a:outerShdw>
          </a:effectLst>
        </p:spPr>
        <p:txBody>
          <a:bodyPr lIns="45718" tIns="45718" rIns="45718" bIns="45718"/>
          <a:lstStyle/>
          <a:p>
            <a:pPr algn="ctr">
              <a:defRPr sz="1400"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pic>
        <p:nvPicPr>
          <p:cNvPr id="53" name="WhatsApp Image 2026-09-11 at 14.55.34.jpeg" descr="WhatsApp Image 2026-09-11 at 14.55.34.jpeg"/>
          <p:cNvPicPr>
            <a:picLocks noChangeAspect="1"/>
          </p:cNvPicPr>
          <p:nvPr/>
        </p:nvPicPr>
        <p:blipFill>
          <a:blip r:embed="rId7">
            <a:extLst/>
          </a:blip>
          <a:srcRect l="0" t="2314" r="3" b="24233"/>
          <a:stretch>
            <a:fillRect/>
          </a:stretch>
        </p:blipFill>
        <p:spPr>
          <a:xfrm>
            <a:off x="9581387" y="1650070"/>
            <a:ext cx="1348582" cy="1320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28575">
            <a:solidFill>
              <a:srgbClr val="0D1F46"/>
            </a:solidFill>
          </a:ln>
        </p:spPr>
      </p:pic>
      <p:sp>
        <p:nvSpPr>
          <p:cNvPr id="54" name="TextBox 15"/>
          <p:cNvSpPr txBox="1"/>
          <p:nvPr/>
        </p:nvSpPr>
        <p:spPr>
          <a:xfrm>
            <a:off x="9329925" y="2988557"/>
            <a:ext cx="1851506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40404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Avaz Huseynov</a:t>
            </a:r>
          </a:p>
        </p:txBody>
      </p:sp>
      <p:sp>
        <p:nvSpPr>
          <p:cNvPr id="55" name="Metin kutusu 23"/>
          <p:cNvSpPr txBox="1"/>
          <p:nvPr/>
        </p:nvSpPr>
        <p:spPr>
          <a:xfrm>
            <a:off x="9329925" y="3433386"/>
            <a:ext cx="1851506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Developer &amp; Researcher</a:t>
            </a:r>
          </a:p>
        </p:txBody>
      </p:sp>
      <p:sp>
        <p:nvSpPr>
          <p:cNvPr id="56" name="Shape 33"/>
          <p:cNvSpPr/>
          <p:nvPr/>
        </p:nvSpPr>
        <p:spPr>
          <a:xfrm>
            <a:off x="9336275" y="1402083"/>
            <a:ext cx="1838806" cy="97538"/>
          </a:xfrm>
          <a:prstGeom prst="rect">
            <a:avLst/>
          </a:prstGeom>
          <a:solidFill>
            <a:srgbClr val="21295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7" name="CI…"/>
          <p:cNvSpPr txBox="1"/>
          <p:nvPr/>
        </p:nvSpPr>
        <p:spPr>
          <a:xfrm>
            <a:off x="770272" y="4549677"/>
            <a:ext cx="1851505" cy="13842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CI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Deploy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Model Factory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Project Author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Individual Models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Model Test / Training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Unet / LightUnet Implementation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Etc</a:t>
            </a:r>
          </a:p>
        </p:txBody>
      </p:sp>
      <p:sp>
        <p:nvSpPr>
          <p:cNvPr id="58" name="Sweep…"/>
          <p:cNvSpPr txBox="1"/>
          <p:nvPr/>
        </p:nvSpPr>
        <p:spPr>
          <a:xfrm>
            <a:off x="2804748" y="4523014"/>
            <a:ext cx="2012447" cy="1384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Sweep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Model Pairs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Helper Scripts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Batch Training Core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ONNX / Torchscript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Batch Training Recovery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Preprocessing Foundation 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Etc</a:t>
            </a:r>
          </a:p>
        </p:txBody>
      </p:sp>
      <p:sp>
        <p:nvSpPr>
          <p:cNvPr id="59" name="Logger…"/>
          <p:cNvSpPr txBox="1"/>
          <p:nvPr/>
        </p:nvSpPr>
        <p:spPr>
          <a:xfrm>
            <a:off x="9327291" y="4549677"/>
            <a:ext cx="2012447" cy="13842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Logger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Evaluation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Prediction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Visualization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Memory Utils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Export Model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EDA Datasets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Etc</a:t>
            </a:r>
          </a:p>
        </p:txBody>
      </p:sp>
      <p:sp>
        <p:nvSpPr>
          <p:cNvPr id="60" name="Metrics…"/>
          <p:cNvSpPr txBox="1"/>
          <p:nvPr/>
        </p:nvSpPr>
        <p:spPr>
          <a:xfrm>
            <a:off x="7305501" y="4523014"/>
            <a:ext cx="2012447" cy="1384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Metrics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Train Scripts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Loss Functions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Documentation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Callbacks / Trainer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MLFlow / TensorBoard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Trainer Advanced Features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Etc</a:t>
            </a:r>
          </a:p>
        </p:txBody>
      </p:sp>
      <p:sp>
        <p:nvSpPr>
          <p:cNvPr id="61" name="Docstring…"/>
          <p:cNvSpPr txBox="1"/>
          <p:nvPr/>
        </p:nvSpPr>
        <p:spPr>
          <a:xfrm>
            <a:off x="5021495" y="4523014"/>
            <a:ext cx="2012447" cy="1384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Docstring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Readme.md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Data Pipeline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EDA Datasets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Preprocessing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Preprocessing Scripts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Configuration System / Foundation</a:t>
            </a:r>
          </a:p>
          <a:p>
            <a:pPr>
              <a:defRPr sz="1000">
                <a:latin typeface="+mj-lt"/>
                <a:ea typeface="+mj-ea"/>
                <a:cs typeface="+mj-cs"/>
                <a:sym typeface="Calibri"/>
              </a:defRPr>
            </a:pPr>
            <a:r>
              <a:t>Etc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 txBox="1"/>
          <p:nvPr/>
        </p:nvSpPr>
        <p:spPr>
          <a:xfrm>
            <a:off x="548640" y="5616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01 · INTRODUCTION</a:t>
            </a:r>
          </a:p>
        </p:txBody>
      </p:sp>
      <p:sp>
        <p:nvSpPr>
          <p:cNvPr id="64" name="Text 1"/>
          <p:cNvSpPr txBox="1"/>
          <p:nvPr/>
        </p:nvSpPr>
        <p:spPr>
          <a:xfrm>
            <a:off x="548638" y="953768"/>
            <a:ext cx="1106424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is a first break, and why does it matter?</a:t>
            </a:r>
          </a:p>
        </p:txBody>
      </p:sp>
      <p:sp>
        <p:nvSpPr>
          <p:cNvPr id="65" name="Text 2"/>
          <p:cNvSpPr txBox="1"/>
          <p:nvPr/>
        </p:nvSpPr>
        <p:spPr>
          <a:xfrm>
            <a:off x="548638" y="2164663"/>
            <a:ext cx="6035044" cy="699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1400">
                <a:solidFill>
                  <a:srgbClr val="1A27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A “first break” is the arrival time of the initial seismic wave at a receiver. This time is the key input for building velocity models, computing static corrections, and depth-time conversions in seismic refraction and tomography studies.</a:t>
            </a:r>
          </a:p>
        </p:txBody>
      </p:sp>
      <p:sp>
        <p:nvSpPr>
          <p:cNvPr id="66" name="Shape 3"/>
          <p:cNvSpPr/>
          <p:nvPr/>
        </p:nvSpPr>
        <p:spPr>
          <a:xfrm>
            <a:off x="548640" y="3520440"/>
            <a:ext cx="457202" cy="457203"/>
          </a:xfrm>
          <a:prstGeom prst="ellipse">
            <a:avLst/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7" name="Text 4"/>
          <p:cNvSpPr txBox="1"/>
          <p:nvPr/>
        </p:nvSpPr>
        <p:spPr>
          <a:xfrm>
            <a:off x="548640" y="3665658"/>
            <a:ext cx="45720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8" name="Text 5"/>
          <p:cNvSpPr txBox="1"/>
          <p:nvPr/>
        </p:nvSpPr>
        <p:spPr>
          <a:xfrm>
            <a:off x="1188718" y="3540059"/>
            <a:ext cx="539496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Traditional approach</a:t>
            </a:r>
          </a:p>
        </p:txBody>
      </p:sp>
      <p:sp>
        <p:nvSpPr>
          <p:cNvPr id="69" name="Text 6"/>
          <p:cNvSpPr txBox="1"/>
          <p:nvPr/>
        </p:nvSpPr>
        <p:spPr>
          <a:xfrm>
            <a:off x="1188718" y="3960797"/>
            <a:ext cx="5394964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Manual picking by geophysicists across millions of traces — a time-consuming process</a:t>
            </a:r>
          </a:p>
        </p:txBody>
      </p:sp>
      <p:sp>
        <p:nvSpPr>
          <p:cNvPr id="70" name="Shape 7"/>
          <p:cNvSpPr/>
          <p:nvPr/>
        </p:nvSpPr>
        <p:spPr>
          <a:xfrm>
            <a:off x="548640" y="4416552"/>
            <a:ext cx="457202" cy="457203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1" name="Text 8"/>
          <p:cNvSpPr txBox="1"/>
          <p:nvPr/>
        </p:nvSpPr>
        <p:spPr>
          <a:xfrm>
            <a:off x="548640" y="4561771"/>
            <a:ext cx="457202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72" name="Text 9"/>
          <p:cNvSpPr txBox="1"/>
          <p:nvPr/>
        </p:nvSpPr>
        <p:spPr>
          <a:xfrm>
            <a:off x="1188718" y="4436171"/>
            <a:ext cx="539496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Objective</a:t>
            </a:r>
          </a:p>
        </p:txBody>
      </p:sp>
      <p:sp>
        <p:nvSpPr>
          <p:cNvPr id="73" name="Text 10"/>
          <p:cNvSpPr txBox="1"/>
          <p:nvPr/>
        </p:nvSpPr>
        <p:spPr>
          <a:xfrm>
            <a:off x="1188718" y="4764289"/>
            <a:ext cx="5394964" cy="319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Build an automated method that performs reliably across varying assets and signal-to-noise ratios</a:t>
            </a:r>
          </a:p>
        </p:txBody>
      </p:sp>
      <p:sp>
        <p:nvSpPr>
          <p:cNvPr id="74" name="Shape 11"/>
          <p:cNvSpPr/>
          <p:nvPr/>
        </p:nvSpPr>
        <p:spPr>
          <a:xfrm>
            <a:off x="548640" y="5312664"/>
            <a:ext cx="457202" cy="457203"/>
          </a:xfrm>
          <a:prstGeom prst="ellipse">
            <a:avLst/>
          </a:prstGeom>
          <a:solidFill>
            <a:srgbClr val="21295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5" name="Text 12"/>
          <p:cNvSpPr txBox="1"/>
          <p:nvPr/>
        </p:nvSpPr>
        <p:spPr>
          <a:xfrm>
            <a:off x="548640" y="5457882"/>
            <a:ext cx="45720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6" name="Text 13"/>
          <p:cNvSpPr txBox="1"/>
          <p:nvPr/>
        </p:nvSpPr>
        <p:spPr>
          <a:xfrm>
            <a:off x="1188718" y="5332283"/>
            <a:ext cx="539496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Input data</a:t>
            </a:r>
          </a:p>
        </p:txBody>
      </p:sp>
      <p:sp>
        <p:nvSpPr>
          <p:cNvPr id="77" name="Text 14"/>
          <p:cNvSpPr txBox="1"/>
          <p:nvPr/>
        </p:nvSpPr>
        <p:spPr>
          <a:xfrm>
            <a:off x="1188718" y="5753021"/>
            <a:ext cx="5394964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Traces from 4 real seismic assets + expert-labeled first-break times (SPARE1)</a:t>
            </a:r>
          </a:p>
        </p:txBody>
      </p:sp>
      <p:sp>
        <p:nvSpPr>
          <p:cNvPr id="78" name="Text 30"/>
          <p:cNvSpPr txBox="1"/>
          <p:nvPr/>
        </p:nvSpPr>
        <p:spPr>
          <a:xfrm>
            <a:off x="6947557" y="2282124"/>
            <a:ext cx="43891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C0392B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First-break line</a:t>
            </a:r>
          </a:p>
        </p:txBody>
      </p:sp>
      <p:sp>
        <p:nvSpPr>
          <p:cNvPr id="79" name="Text 31"/>
          <p:cNvSpPr txBox="1"/>
          <p:nvPr/>
        </p:nvSpPr>
        <p:spPr>
          <a:xfrm>
            <a:off x="113786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02</a:t>
            </a:r>
          </a:p>
        </p:txBody>
      </p:sp>
      <p:pic>
        <p:nvPicPr>
          <p:cNvPr id="80" name="pryektsekil.svg" descr="pryektsekil.sv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766559" y="2710312"/>
            <a:ext cx="5162459" cy="29038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 txBox="1"/>
          <p:nvPr/>
        </p:nvSpPr>
        <p:spPr>
          <a:xfrm>
            <a:off x="548640" y="5616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02 · BUSINESS NEED</a:t>
            </a:r>
          </a:p>
        </p:txBody>
      </p:sp>
      <p:sp>
        <p:nvSpPr>
          <p:cNvPr id="83" name="Text 1"/>
          <p:cNvSpPr txBox="1"/>
          <p:nvPr/>
        </p:nvSpPr>
        <p:spPr>
          <a:xfrm>
            <a:off x="548638" y="953768"/>
            <a:ext cx="1106424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Why does this need to be automated?</a:t>
            </a:r>
          </a:p>
        </p:txBody>
      </p:sp>
      <p:sp>
        <p:nvSpPr>
          <p:cNvPr id="84" name="Shape 2"/>
          <p:cNvSpPr/>
          <p:nvPr/>
        </p:nvSpPr>
        <p:spPr>
          <a:xfrm>
            <a:off x="548640" y="18745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5" name="Shape 3"/>
          <p:cNvSpPr/>
          <p:nvPr/>
        </p:nvSpPr>
        <p:spPr>
          <a:xfrm>
            <a:off x="777240" y="2148838"/>
            <a:ext cx="548643" cy="548643"/>
          </a:xfrm>
          <a:prstGeom prst="ellipse">
            <a:avLst/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6" name="Text 4"/>
          <p:cNvSpPr txBox="1"/>
          <p:nvPr/>
        </p:nvSpPr>
        <p:spPr>
          <a:xfrm>
            <a:off x="777240" y="2326322"/>
            <a:ext cx="548641" cy="193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⏱</a:t>
            </a:r>
          </a:p>
        </p:txBody>
      </p:sp>
      <p:sp>
        <p:nvSpPr>
          <p:cNvPr id="87" name="Text 5"/>
          <p:cNvSpPr txBox="1"/>
          <p:nvPr/>
        </p:nvSpPr>
        <p:spPr>
          <a:xfrm>
            <a:off x="749808" y="2992820"/>
            <a:ext cx="224028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Time cost</a:t>
            </a:r>
          </a:p>
        </p:txBody>
      </p:sp>
      <p:sp>
        <p:nvSpPr>
          <p:cNvPr id="88" name="Text 6"/>
          <p:cNvSpPr txBox="1"/>
          <p:nvPr/>
        </p:nvSpPr>
        <p:spPr>
          <a:xfrm>
            <a:off x="749808" y="4038592"/>
            <a:ext cx="2240280" cy="518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Manually picking millions of traces takes weeks to months and delays project timelines.</a:t>
            </a:r>
          </a:p>
        </p:txBody>
      </p:sp>
      <p:sp>
        <p:nvSpPr>
          <p:cNvPr id="89" name="Shape 7"/>
          <p:cNvSpPr/>
          <p:nvPr/>
        </p:nvSpPr>
        <p:spPr>
          <a:xfrm>
            <a:off x="3410710" y="1874520"/>
            <a:ext cx="2606042" cy="3566160"/>
          </a:xfrm>
          <a:prstGeom prst="roundRect">
            <a:avLst>
              <a:gd name="adj" fmla="val 2807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0" name="Shape 8"/>
          <p:cNvSpPr/>
          <p:nvPr/>
        </p:nvSpPr>
        <p:spPr>
          <a:xfrm>
            <a:off x="3639310" y="2148838"/>
            <a:ext cx="548643" cy="548643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1" name="Text 9"/>
          <p:cNvSpPr txBox="1"/>
          <p:nvPr/>
        </p:nvSpPr>
        <p:spPr>
          <a:xfrm>
            <a:off x="3639310" y="2329881"/>
            <a:ext cx="5486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≈</a:t>
            </a:r>
          </a:p>
        </p:txBody>
      </p:sp>
      <p:sp>
        <p:nvSpPr>
          <p:cNvPr id="92" name="Text 10"/>
          <p:cNvSpPr txBox="1"/>
          <p:nvPr/>
        </p:nvSpPr>
        <p:spPr>
          <a:xfrm>
            <a:off x="3639310" y="2298789"/>
            <a:ext cx="54864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≈</a:t>
            </a:r>
          </a:p>
        </p:txBody>
      </p:sp>
      <p:sp>
        <p:nvSpPr>
          <p:cNvPr id="93" name="Text 11"/>
          <p:cNvSpPr txBox="1"/>
          <p:nvPr/>
        </p:nvSpPr>
        <p:spPr>
          <a:xfrm>
            <a:off x="3611879" y="2992820"/>
            <a:ext cx="22402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Subjectivity</a:t>
            </a:r>
          </a:p>
        </p:txBody>
      </p:sp>
      <p:sp>
        <p:nvSpPr>
          <p:cNvPr id="94" name="Text 12"/>
          <p:cNvSpPr txBox="1"/>
          <p:nvPr/>
        </p:nvSpPr>
        <p:spPr>
          <a:xfrm>
            <a:off x="3611879" y="4038592"/>
            <a:ext cx="2240282" cy="518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D9E9F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Inconsistency between different pickers' results affects the quality of the velocity model.</a:t>
            </a:r>
          </a:p>
        </p:txBody>
      </p:sp>
      <p:sp>
        <p:nvSpPr>
          <p:cNvPr id="95" name="Shape 13"/>
          <p:cNvSpPr/>
          <p:nvPr/>
        </p:nvSpPr>
        <p:spPr>
          <a:xfrm>
            <a:off x="6272784" y="1874520"/>
            <a:ext cx="2606042" cy="3566160"/>
          </a:xfrm>
          <a:prstGeom prst="roundRect">
            <a:avLst>
              <a:gd name="adj" fmla="val 2807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6" name="Shape 14"/>
          <p:cNvSpPr/>
          <p:nvPr/>
        </p:nvSpPr>
        <p:spPr>
          <a:xfrm>
            <a:off x="6501384" y="2148838"/>
            <a:ext cx="548643" cy="548643"/>
          </a:xfrm>
          <a:prstGeom prst="ellipse">
            <a:avLst/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7" name="Text 15"/>
          <p:cNvSpPr txBox="1"/>
          <p:nvPr/>
        </p:nvSpPr>
        <p:spPr>
          <a:xfrm>
            <a:off x="6501384" y="2329881"/>
            <a:ext cx="5486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↗</a:t>
            </a:r>
          </a:p>
        </p:txBody>
      </p:sp>
      <p:sp>
        <p:nvSpPr>
          <p:cNvPr id="98" name="Text 16"/>
          <p:cNvSpPr txBox="1"/>
          <p:nvPr/>
        </p:nvSpPr>
        <p:spPr>
          <a:xfrm>
            <a:off x="6473952" y="2992820"/>
            <a:ext cx="22402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Scalability</a:t>
            </a:r>
          </a:p>
        </p:txBody>
      </p:sp>
      <p:sp>
        <p:nvSpPr>
          <p:cNvPr id="99" name="Text 17"/>
          <p:cNvSpPr txBox="1"/>
          <p:nvPr/>
        </p:nvSpPr>
        <p:spPr>
          <a:xfrm>
            <a:off x="6473952" y="4038592"/>
            <a:ext cx="2240282" cy="518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Manual effort doesn't scale as new assets (Brunswick, Halfmile, Lalor, Sudbury) are added.</a:t>
            </a:r>
          </a:p>
        </p:txBody>
      </p:sp>
      <p:sp>
        <p:nvSpPr>
          <p:cNvPr id="100" name="Shape 18"/>
          <p:cNvSpPr/>
          <p:nvPr/>
        </p:nvSpPr>
        <p:spPr>
          <a:xfrm>
            <a:off x="9134856" y="1874520"/>
            <a:ext cx="2606042" cy="3566160"/>
          </a:xfrm>
          <a:prstGeom prst="roundRect">
            <a:avLst>
              <a:gd name="adj" fmla="val 2807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1" name="Shape 19"/>
          <p:cNvSpPr/>
          <p:nvPr/>
        </p:nvSpPr>
        <p:spPr>
          <a:xfrm>
            <a:off x="9363456" y="2148838"/>
            <a:ext cx="548643" cy="548643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2" name="Text 20"/>
          <p:cNvSpPr txBox="1"/>
          <p:nvPr/>
        </p:nvSpPr>
        <p:spPr>
          <a:xfrm>
            <a:off x="9363456" y="2329881"/>
            <a:ext cx="5486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$</a:t>
            </a:r>
          </a:p>
        </p:txBody>
      </p:sp>
      <p:sp>
        <p:nvSpPr>
          <p:cNvPr id="103" name="Text 21"/>
          <p:cNvSpPr txBox="1"/>
          <p:nvPr/>
        </p:nvSpPr>
        <p:spPr>
          <a:xfrm>
            <a:off x="9363456" y="2298789"/>
            <a:ext cx="54864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$</a:t>
            </a:r>
          </a:p>
        </p:txBody>
      </p:sp>
      <p:sp>
        <p:nvSpPr>
          <p:cNvPr id="104" name="Text 22"/>
          <p:cNvSpPr txBox="1"/>
          <p:nvPr/>
        </p:nvSpPr>
        <p:spPr>
          <a:xfrm>
            <a:off x="9336023" y="2992820"/>
            <a:ext cx="224028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Value chain</a:t>
            </a:r>
          </a:p>
        </p:txBody>
      </p:sp>
      <p:sp>
        <p:nvSpPr>
          <p:cNvPr id="105" name="Text 23"/>
          <p:cNvSpPr txBox="1"/>
          <p:nvPr/>
        </p:nvSpPr>
        <p:spPr>
          <a:xfrm>
            <a:off x="9336023" y="4038592"/>
            <a:ext cx="2240282" cy="518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D9E9F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Faster, more accurate first breaks lead to faster statics and faster exploration decisions.</a:t>
            </a:r>
          </a:p>
        </p:txBody>
      </p:sp>
      <p:sp>
        <p:nvSpPr>
          <p:cNvPr id="106" name="Text 24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 txBox="1"/>
          <p:nvPr/>
        </p:nvSpPr>
        <p:spPr>
          <a:xfrm>
            <a:off x="548640" y="5616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03 · DATA</a:t>
            </a:r>
          </a:p>
        </p:txBody>
      </p:sp>
      <p:sp>
        <p:nvSpPr>
          <p:cNvPr id="109" name="Text 1"/>
          <p:cNvSpPr txBox="1"/>
          <p:nvPr/>
        </p:nvSpPr>
        <p:spPr>
          <a:xfrm>
            <a:off x="548638" y="953768"/>
            <a:ext cx="1106424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Overview of the four real seismic assets</a:t>
            </a:r>
          </a:p>
        </p:txBody>
      </p:sp>
      <p:sp>
        <p:nvSpPr>
          <p:cNvPr id="110" name="Shape 2"/>
          <p:cNvSpPr/>
          <p:nvPr/>
        </p:nvSpPr>
        <p:spPr>
          <a:xfrm>
            <a:off x="548640" y="1783078"/>
            <a:ext cx="2651762" cy="1554482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1" name="Shape 3"/>
          <p:cNvSpPr/>
          <p:nvPr/>
        </p:nvSpPr>
        <p:spPr>
          <a:xfrm>
            <a:off x="548640" y="1783078"/>
            <a:ext cx="82298" cy="1554482"/>
          </a:xfrm>
          <a:prstGeom prst="rect">
            <a:avLst/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2" name="Text 4"/>
          <p:cNvSpPr txBox="1"/>
          <p:nvPr/>
        </p:nvSpPr>
        <p:spPr>
          <a:xfrm>
            <a:off x="777240" y="2009901"/>
            <a:ext cx="2286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Brunswick</a:t>
            </a:r>
          </a:p>
        </p:txBody>
      </p:sp>
      <p:sp>
        <p:nvSpPr>
          <p:cNvPr id="113" name="Text 5"/>
          <p:cNvSpPr txBox="1"/>
          <p:nvPr/>
        </p:nvSpPr>
        <p:spPr>
          <a:xfrm>
            <a:off x="777240" y="2627553"/>
            <a:ext cx="2286001" cy="322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seismic, HDF5 (Brunswick_orig_1500ms_V2)</a:t>
            </a:r>
          </a:p>
        </p:txBody>
      </p:sp>
      <p:sp>
        <p:nvSpPr>
          <p:cNvPr id="114" name="Shape 6"/>
          <p:cNvSpPr/>
          <p:nvPr/>
        </p:nvSpPr>
        <p:spPr>
          <a:xfrm>
            <a:off x="3429000" y="1783078"/>
            <a:ext cx="2651762" cy="1554482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5" name="Shape 7"/>
          <p:cNvSpPr/>
          <p:nvPr/>
        </p:nvSpPr>
        <p:spPr>
          <a:xfrm>
            <a:off x="3429000" y="1783078"/>
            <a:ext cx="82297" cy="1554482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6" name="Text 8"/>
          <p:cNvSpPr txBox="1"/>
          <p:nvPr/>
        </p:nvSpPr>
        <p:spPr>
          <a:xfrm>
            <a:off x="3657600" y="2009901"/>
            <a:ext cx="228600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Halfmile</a:t>
            </a:r>
          </a:p>
        </p:txBody>
      </p:sp>
      <p:sp>
        <p:nvSpPr>
          <p:cNvPr id="117" name="Text 9"/>
          <p:cNvSpPr txBox="1"/>
          <p:nvPr/>
        </p:nvSpPr>
        <p:spPr>
          <a:xfrm>
            <a:off x="3657600" y="2627553"/>
            <a:ext cx="2286000" cy="322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seismic, with added geometry (add_geom_sorted)</a:t>
            </a:r>
          </a:p>
        </p:txBody>
      </p:sp>
      <p:sp>
        <p:nvSpPr>
          <p:cNvPr id="118" name="Shape 10"/>
          <p:cNvSpPr/>
          <p:nvPr/>
        </p:nvSpPr>
        <p:spPr>
          <a:xfrm>
            <a:off x="6309359" y="1783078"/>
            <a:ext cx="2651762" cy="1554482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9" name="Shape 11"/>
          <p:cNvSpPr/>
          <p:nvPr/>
        </p:nvSpPr>
        <p:spPr>
          <a:xfrm>
            <a:off x="6309359" y="1783078"/>
            <a:ext cx="82298" cy="1554482"/>
          </a:xfrm>
          <a:prstGeom prst="rect">
            <a:avLst/>
          </a:prstGeom>
          <a:solidFill>
            <a:srgbClr val="21295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0" name="Text 12"/>
          <p:cNvSpPr txBox="1"/>
          <p:nvPr/>
        </p:nvSpPr>
        <p:spPr>
          <a:xfrm>
            <a:off x="6537959" y="2009901"/>
            <a:ext cx="2286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Lalor</a:t>
            </a:r>
          </a:p>
        </p:txBody>
      </p:sp>
      <p:sp>
        <p:nvSpPr>
          <p:cNvPr id="121" name="Text 13"/>
          <p:cNvSpPr txBox="1"/>
          <p:nvPr/>
        </p:nvSpPr>
        <p:spPr>
          <a:xfrm>
            <a:off x="6537959" y="2627553"/>
            <a:ext cx="2286002" cy="322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seismic, raw z-values (raw_z_1500ms_norp_geom)</a:t>
            </a:r>
          </a:p>
        </p:txBody>
      </p:sp>
      <p:sp>
        <p:nvSpPr>
          <p:cNvPr id="122" name="Shape 14"/>
          <p:cNvSpPr/>
          <p:nvPr/>
        </p:nvSpPr>
        <p:spPr>
          <a:xfrm>
            <a:off x="9189718" y="1783078"/>
            <a:ext cx="2651762" cy="1554482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3" name="Shape 15"/>
          <p:cNvSpPr/>
          <p:nvPr/>
        </p:nvSpPr>
        <p:spPr>
          <a:xfrm>
            <a:off x="9189718" y="1783078"/>
            <a:ext cx="82298" cy="1554482"/>
          </a:xfrm>
          <a:prstGeom prst="rect">
            <a:avLst/>
          </a:prstGeom>
          <a:solidFill>
            <a:srgbClr val="3E7CA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4" name="Text 16"/>
          <p:cNvSpPr txBox="1"/>
          <p:nvPr/>
        </p:nvSpPr>
        <p:spPr>
          <a:xfrm>
            <a:off x="9418318" y="2009901"/>
            <a:ext cx="2286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Sudbury</a:t>
            </a:r>
          </a:p>
        </p:txBody>
      </p:sp>
      <p:sp>
        <p:nvSpPr>
          <p:cNvPr id="125" name="Text 17"/>
          <p:cNvSpPr txBox="1"/>
          <p:nvPr/>
        </p:nvSpPr>
        <p:spPr>
          <a:xfrm>
            <a:off x="9418318" y="2720383"/>
            <a:ext cx="228600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3D seismic, pre-processed</a:t>
            </a:r>
          </a:p>
        </p:txBody>
      </p:sp>
      <p:sp>
        <p:nvSpPr>
          <p:cNvPr id="126" name="Text 18"/>
          <p:cNvSpPr txBox="1"/>
          <p:nvPr/>
        </p:nvSpPr>
        <p:spPr>
          <a:xfrm>
            <a:off x="548640" y="3688519"/>
            <a:ext cx="73152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HDF5 structure  ·  /TRACE_DATA/DEFAULT</a:t>
            </a:r>
          </a:p>
        </p:txBody>
      </p:sp>
      <p:sp>
        <p:nvSpPr>
          <p:cNvPr id="127" name="Shape 19"/>
          <p:cNvSpPr/>
          <p:nvPr/>
        </p:nvSpPr>
        <p:spPr>
          <a:xfrm>
            <a:off x="548640" y="4023359"/>
            <a:ext cx="3657602" cy="1097282"/>
          </a:xfrm>
          <a:prstGeom prst="roundRect">
            <a:avLst>
              <a:gd name="adj" fmla="val 5000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8" name="Text 20"/>
          <p:cNvSpPr txBox="1"/>
          <p:nvPr/>
        </p:nvSpPr>
        <p:spPr>
          <a:xfrm>
            <a:off x="713230" y="4214674"/>
            <a:ext cx="3328418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data_array</a:t>
            </a:r>
          </a:p>
        </p:txBody>
      </p:sp>
      <p:sp>
        <p:nvSpPr>
          <p:cNvPr id="129" name="Text 21"/>
          <p:cNvSpPr txBox="1"/>
          <p:nvPr/>
        </p:nvSpPr>
        <p:spPr>
          <a:xfrm>
            <a:off x="713230" y="4709204"/>
            <a:ext cx="3328418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2D array of all recorded traces (trace count × sample count)</a:t>
            </a:r>
          </a:p>
        </p:txBody>
      </p:sp>
      <p:sp>
        <p:nvSpPr>
          <p:cNvPr id="130" name="Shape 22"/>
          <p:cNvSpPr/>
          <p:nvPr/>
        </p:nvSpPr>
        <p:spPr>
          <a:xfrm>
            <a:off x="4297679" y="4023359"/>
            <a:ext cx="3657602" cy="1097282"/>
          </a:xfrm>
          <a:prstGeom prst="roundRect">
            <a:avLst>
              <a:gd name="adj" fmla="val 5000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1" name="Text 23"/>
          <p:cNvSpPr txBox="1"/>
          <p:nvPr/>
        </p:nvSpPr>
        <p:spPr>
          <a:xfrm>
            <a:off x="4462271" y="4214674"/>
            <a:ext cx="3328416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SOURCE_X / Y / HT</a:t>
            </a:r>
          </a:p>
        </p:txBody>
      </p:sp>
      <p:sp>
        <p:nvSpPr>
          <p:cNvPr id="132" name="Text 24"/>
          <p:cNvSpPr txBox="1"/>
          <p:nvPr/>
        </p:nvSpPr>
        <p:spPr>
          <a:xfrm>
            <a:off x="4462271" y="4709204"/>
            <a:ext cx="332841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Shot (source) coordinates and elevation</a:t>
            </a:r>
          </a:p>
        </p:txBody>
      </p:sp>
      <p:sp>
        <p:nvSpPr>
          <p:cNvPr id="133" name="Shape 25"/>
          <p:cNvSpPr/>
          <p:nvPr/>
        </p:nvSpPr>
        <p:spPr>
          <a:xfrm>
            <a:off x="8046718" y="4023359"/>
            <a:ext cx="3657603" cy="1097282"/>
          </a:xfrm>
          <a:prstGeom prst="roundRect">
            <a:avLst>
              <a:gd name="adj" fmla="val 5000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4" name="Text 26"/>
          <p:cNvSpPr txBox="1"/>
          <p:nvPr/>
        </p:nvSpPr>
        <p:spPr>
          <a:xfrm>
            <a:off x="8211311" y="4214674"/>
            <a:ext cx="3328418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REC_X / Y / HT / PEG</a:t>
            </a:r>
          </a:p>
        </p:txBody>
      </p:sp>
      <p:sp>
        <p:nvSpPr>
          <p:cNvPr id="135" name="Text 27"/>
          <p:cNvSpPr txBox="1"/>
          <p:nvPr/>
        </p:nvSpPr>
        <p:spPr>
          <a:xfrm>
            <a:off x="8211311" y="4709204"/>
            <a:ext cx="3328418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Receiver coordinates and identifiers</a:t>
            </a:r>
          </a:p>
        </p:txBody>
      </p:sp>
      <p:sp>
        <p:nvSpPr>
          <p:cNvPr id="136" name="Shape 28"/>
          <p:cNvSpPr/>
          <p:nvPr/>
        </p:nvSpPr>
        <p:spPr>
          <a:xfrm>
            <a:off x="548640" y="5257800"/>
            <a:ext cx="3657602" cy="1097281"/>
          </a:xfrm>
          <a:prstGeom prst="roundRect">
            <a:avLst>
              <a:gd name="adj" fmla="val 5000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7" name="Text 29"/>
          <p:cNvSpPr txBox="1"/>
          <p:nvPr/>
        </p:nvSpPr>
        <p:spPr>
          <a:xfrm>
            <a:off x="713230" y="5449114"/>
            <a:ext cx="3328418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SAMP_RATE / SAMP_NUM</a:t>
            </a:r>
          </a:p>
        </p:txBody>
      </p:sp>
      <p:sp>
        <p:nvSpPr>
          <p:cNvPr id="138" name="Text 30"/>
          <p:cNvSpPr txBox="1"/>
          <p:nvPr/>
        </p:nvSpPr>
        <p:spPr>
          <a:xfrm>
            <a:off x="713230" y="5943644"/>
            <a:ext cx="332841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Sampling rate (μs) and sample count</a:t>
            </a:r>
          </a:p>
        </p:txBody>
      </p:sp>
      <p:sp>
        <p:nvSpPr>
          <p:cNvPr id="139" name="Shape 31"/>
          <p:cNvSpPr/>
          <p:nvPr/>
        </p:nvSpPr>
        <p:spPr>
          <a:xfrm>
            <a:off x="4297679" y="5257800"/>
            <a:ext cx="3657602" cy="1097281"/>
          </a:xfrm>
          <a:prstGeom prst="roundRect">
            <a:avLst>
              <a:gd name="adj" fmla="val 5000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0" name="Text 32"/>
          <p:cNvSpPr txBox="1"/>
          <p:nvPr/>
        </p:nvSpPr>
        <p:spPr>
          <a:xfrm>
            <a:off x="4462271" y="5449114"/>
            <a:ext cx="3328416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SPARE1</a:t>
            </a:r>
          </a:p>
        </p:txBody>
      </p:sp>
      <p:sp>
        <p:nvSpPr>
          <p:cNvPr id="141" name="Text 33"/>
          <p:cNvSpPr txBox="1"/>
          <p:nvPr/>
        </p:nvSpPr>
        <p:spPr>
          <a:xfrm>
            <a:off x="4462271" y="5943644"/>
            <a:ext cx="3328416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First-break time (ms); 0 or -1 = unlabeled</a:t>
            </a:r>
          </a:p>
        </p:txBody>
      </p:sp>
      <p:sp>
        <p:nvSpPr>
          <p:cNvPr id="142" name="Shape 34"/>
          <p:cNvSpPr/>
          <p:nvPr/>
        </p:nvSpPr>
        <p:spPr>
          <a:xfrm>
            <a:off x="8046718" y="5257800"/>
            <a:ext cx="3657603" cy="1097281"/>
          </a:xfrm>
          <a:prstGeom prst="roundRect">
            <a:avLst>
              <a:gd name="adj" fmla="val 5000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43" name="Text 35"/>
          <p:cNvSpPr txBox="1"/>
          <p:nvPr/>
        </p:nvSpPr>
        <p:spPr>
          <a:xfrm>
            <a:off x="8211311" y="5449114"/>
            <a:ext cx="3328418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065A8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SHOTID / SHOT_PEG</a:t>
            </a:r>
          </a:p>
        </p:txBody>
      </p:sp>
      <p:sp>
        <p:nvSpPr>
          <p:cNvPr id="144" name="Text 36"/>
          <p:cNvSpPr txBox="1"/>
          <p:nvPr/>
        </p:nvSpPr>
        <p:spPr>
          <a:xfrm>
            <a:off x="8211311" y="5943644"/>
            <a:ext cx="332841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Shot identifiers — used to split gathers</a:t>
            </a:r>
          </a:p>
        </p:txBody>
      </p:sp>
      <p:sp>
        <p:nvSpPr>
          <p:cNvPr id="145" name="Text 37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Halfmile.png" descr="Halfmil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9777" y="625777"/>
            <a:ext cx="5893897" cy="255773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Lalor.png" descr="Lalor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59220" y="661787"/>
            <a:ext cx="5727937" cy="24857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LalorSpare1.png" descr="LalorSpare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388853" y="3645985"/>
            <a:ext cx="5732122" cy="21194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50" name="Spare1Halfmile.png" descr="Spare1Halfmil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-21999" y="3609590"/>
            <a:ext cx="6217448" cy="2298889"/>
          </a:xfrm>
          <a:prstGeom prst="rect">
            <a:avLst/>
          </a:prstGeom>
          <a:ln w="12700">
            <a:miter lim="400000"/>
          </a:ln>
        </p:spPr>
      </p:pic>
      <p:sp>
        <p:nvSpPr>
          <p:cNvPr id="151" name="Halfmile Dataset and Distribution"/>
          <p:cNvSpPr txBox="1"/>
          <p:nvPr/>
        </p:nvSpPr>
        <p:spPr>
          <a:xfrm>
            <a:off x="1508930" y="96136"/>
            <a:ext cx="3482352" cy="3484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Halfmile Dataset and Distribution </a:t>
            </a:r>
          </a:p>
        </p:txBody>
      </p:sp>
      <p:sp>
        <p:nvSpPr>
          <p:cNvPr id="152" name="Lalor Dataset and Distribution"/>
          <p:cNvSpPr txBox="1"/>
          <p:nvPr/>
        </p:nvSpPr>
        <p:spPr>
          <a:xfrm>
            <a:off x="7501608" y="96136"/>
            <a:ext cx="3116458" cy="3484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Lalor Dataset and Distribution</a:t>
            </a:r>
          </a:p>
        </p:txBody>
      </p:sp>
      <p:sp>
        <p:nvSpPr>
          <p:cNvPr id="153" name="Line"/>
          <p:cNvSpPr/>
          <p:nvPr/>
        </p:nvSpPr>
        <p:spPr>
          <a:xfrm flipV="1">
            <a:off x="6327333" y="401085"/>
            <a:ext cx="2" cy="6445203"/>
          </a:xfrm>
          <a:prstGeom prst="line">
            <a:avLst/>
          </a:prstGeom>
          <a:ln w="12700">
            <a:solidFill>
              <a:schemeClr val="accent1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4" name="Text 37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 txBox="1"/>
          <p:nvPr/>
        </p:nvSpPr>
        <p:spPr>
          <a:xfrm>
            <a:off x="548640" y="5616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04 · METHODOLOGY</a:t>
            </a:r>
          </a:p>
        </p:txBody>
      </p:sp>
      <p:sp>
        <p:nvSpPr>
          <p:cNvPr id="157" name="Text 1"/>
          <p:cNvSpPr txBox="1"/>
          <p:nvPr/>
        </p:nvSpPr>
        <p:spPr>
          <a:xfrm>
            <a:off x="548638" y="953768"/>
            <a:ext cx="1106424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 preparation: splitting into gathers</a:t>
            </a:r>
          </a:p>
        </p:txBody>
      </p:sp>
      <p:sp>
        <p:nvSpPr>
          <p:cNvPr id="158" name="Text 2"/>
          <p:cNvSpPr txBox="1"/>
          <p:nvPr/>
        </p:nvSpPr>
        <p:spPr>
          <a:xfrm>
            <a:off x="548638" y="1832881"/>
            <a:ext cx="11064244" cy="403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3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Each HDF5 file stores all traces sequentially. To reconstruct a real 2D seismic image (shot gather), traces are grouped by receiver/source coordinates (SOURCE_X/Y, REC_X/Y) and SHOTID, then each gather is paired with its first-break labels (SPARE1).</a:t>
            </a:r>
          </a:p>
        </p:txBody>
      </p:sp>
      <p:sp>
        <p:nvSpPr>
          <p:cNvPr id="159" name="Shape 3"/>
          <p:cNvSpPr/>
          <p:nvPr/>
        </p:nvSpPr>
        <p:spPr>
          <a:xfrm>
            <a:off x="548640" y="2743200"/>
            <a:ext cx="2121408" cy="2651762"/>
          </a:xfrm>
          <a:prstGeom prst="roundRect">
            <a:avLst>
              <a:gd name="adj" fmla="val 3448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0" name="Text 4"/>
          <p:cNvSpPr txBox="1"/>
          <p:nvPr/>
        </p:nvSpPr>
        <p:spPr>
          <a:xfrm>
            <a:off x="713230" y="2971292"/>
            <a:ext cx="9144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200">
                <a:solidFill>
                  <a:srgbClr val="BFE0EE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61" name="Text 5"/>
          <p:cNvSpPr txBox="1"/>
          <p:nvPr/>
        </p:nvSpPr>
        <p:spPr>
          <a:xfrm>
            <a:off x="713232" y="3688519"/>
            <a:ext cx="1792224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00"/>
              </a:lnSpc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Load raw data</a:t>
            </a:r>
          </a:p>
        </p:txBody>
      </p:sp>
      <p:sp>
        <p:nvSpPr>
          <p:cNvPr id="162" name="Text 6"/>
          <p:cNvSpPr txBox="1"/>
          <p:nvPr/>
        </p:nvSpPr>
        <p:spPr>
          <a:xfrm>
            <a:off x="713232" y="4544367"/>
            <a:ext cx="1792224" cy="329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DCEBF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Load data_array and metadata fields with h5py</a:t>
            </a:r>
          </a:p>
        </p:txBody>
      </p:sp>
      <p:sp>
        <p:nvSpPr>
          <p:cNvPr id="163" name="Shape 7"/>
          <p:cNvSpPr/>
          <p:nvPr/>
        </p:nvSpPr>
        <p:spPr>
          <a:xfrm>
            <a:off x="2798064" y="2743200"/>
            <a:ext cx="2121410" cy="2651762"/>
          </a:xfrm>
          <a:prstGeom prst="roundRect">
            <a:avLst>
              <a:gd name="adj" fmla="val 3448"/>
            </a:avLst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4" name="Text 8"/>
          <p:cNvSpPr txBox="1"/>
          <p:nvPr/>
        </p:nvSpPr>
        <p:spPr>
          <a:xfrm>
            <a:off x="2962655" y="2971292"/>
            <a:ext cx="91440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200">
                <a:solidFill>
                  <a:srgbClr val="BFE0EE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65" name="Text 9"/>
          <p:cNvSpPr txBox="1"/>
          <p:nvPr/>
        </p:nvSpPr>
        <p:spPr>
          <a:xfrm>
            <a:off x="2962655" y="3688519"/>
            <a:ext cx="1792224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00"/>
              </a:lnSpc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Split into gathers</a:t>
            </a:r>
          </a:p>
        </p:txBody>
      </p:sp>
      <p:sp>
        <p:nvSpPr>
          <p:cNvPr id="166" name="Text 10"/>
          <p:cNvSpPr txBox="1"/>
          <p:nvPr/>
        </p:nvSpPr>
        <p:spPr>
          <a:xfrm>
            <a:off x="2962655" y="4544367"/>
            <a:ext cx="1792224" cy="329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DCEBF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Group traces by SHOTID / coordinates</a:t>
            </a:r>
          </a:p>
        </p:txBody>
      </p:sp>
      <p:sp>
        <p:nvSpPr>
          <p:cNvPr id="167" name="Shape 11"/>
          <p:cNvSpPr/>
          <p:nvPr/>
        </p:nvSpPr>
        <p:spPr>
          <a:xfrm>
            <a:off x="5047488" y="2743200"/>
            <a:ext cx="2121408" cy="2651762"/>
          </a:xfrm>
          <a:prstGeom prst="roundRect">
            <a:avLst>
              <a:gd name="adj" fmla="val 3448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8" name="Text 12"/>
          <p:cNvSpPr txBox="1"/>
          <p:nvPr/>
        </p:nvSpPr>
        <p:spPr>
          <a:xfrm>
            <a:off x="5212079" y="2971292"/>
            <a:ext cx="9144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200">
                <a:solidFill>
                  <a:srgbClr val="BFE0EE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69" name="Text 13"/>
          <p:cNvSpPr txBox="1"/>
          <p:nvPr/>
        </p:nvSpPr>
        <p:spPr>
          <a:xfrm>
            <a:off x="5212079" y="3688519"/>
            <a:ext cx="1792225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00"/>
              </a:lnSpc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Align labels</a:t>
            </a:r>
          </a:p>
        </p:txBody>
      </p:sp>
      <p:sp>
        <p:nvSpPr>
          <p:cNvPr id="170" name="Text 14"/>
          <p:cNvSpPr txBox="1"/>
          <p:nvPr/>
        </p:nvSpPr>
        <p:spPr>
          <a:xfrm>
            <a:off x="5212079" y="4544367"/>
            <a:ext cx="1792225" cy="329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DCEBF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High-millisecond picks are marked invalid.</a:t>
            </a:r>
          </a:p>
        </p:txBody>
      </p:sp>
      <p:sp>
        <p:nvSpPr>
          <p:cNvPr id="171" name="Shape 15"/>
          <p:cNvSpPr/>
          <p:nvPr/>
        </p:nvSpPr>
        <p:spPr>
          <a:xfrm>
            <a:off x="7296911" y="2743200"/>
            <a:ext cx="2121410" cy="2651762"/>
          </a:xfrm>
          <a:prstGeom prst="roundRect">
            <a:avLst>
              <a:gd name="adj" fmla="val 3448"/>
            </a:avLst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2" name="Text 16"/>
          <p:cNvSpPr txBox="1"/>
          <p:nvPr/>
        </p:nvSpPr>
        <p:spPr>
          <a:xfrm>
            <a:off x="7461504" y="2971292"/>
            <a:ext cx="9144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200">
                <a:solidFill>
                  <a:srgbClr val="BFE0EE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173" name="Text 17"/>
          <p:cNvSpPr txBox="1"/>
          <p:nvPr/>
        </p:nvSpPr>
        <p:spPr>
          <a:xfrm>
            <a:off x="7461504" y="3688519"/>
            <a:ext cx="1792225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00"/>
              </a:lnSpc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Clean &amp; filter</a:t>
            </a:r>
          </a:p>
        </p:txBody>
      </p:sp>
      <p:sp>
        <p:nvSpPr>
          <p:cNvPr id="174" name="Text 18"/>
          <p:cNvSpPr txBox="1"/>
          <p:nvPr/>
        </p:nvSpPr>
        <p:spPr>
          <a:xfrm>
            <a:off x="7461504" y="4364387"/>
            <a:ext cx="1792225" cy="329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DCEBF2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Detect unlabeled traces for masking in the loss function</a:t>
            </a:r>
          </a:p>
        </p:txBody>
      </p:sp>
      <p:sp>
        <p:nvSpPr>
          <p:cNvPr id="175" name="Shape 19"/>
          <p:cNvSpPr/>
          <p:nvPr/>
        </p:nvSpPr>
        <p:spPr>
          <a:xfrm>
            <a:off x="9546335" y="2743200"/>
            <a:ext cx="2121410" cy="2651762"/>
          </a:xfrm>
          <a:prstGeom prst="roundRect">
            <a:avLst>
              <a:gd name="adj" fmla="val 3448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76" name="Text 20"/>
          <p:cNvSpPr txBox="1"/>
          <p:nvPr/>
        </p:nvSpPr>
        <p:spPr>
          <a:xfrm>
            <a:off x="9710928" y="2971292"/>
            <a:ext cx="914402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200">
                <a:solidFill>
                  <a:srgbClr val="BFE0EE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77" name="Text 21"/>
          <p:cNvSpPr txBox="1"/>
          <p:nvPr/>
        </p:nvSpPr>
        <p:spPr>
          <a:xfrm>
            <a:off x="9710928" y="3688519"/>
            <a:ext cx="1792225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00"/>
              </a:lnSpc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Train / Val / Test split</a:t>
            </a:r>
          </a:p>
        </p:txBody>
      </p:sp>
      <p:sp>
        <p:nvSpPr>
          <p:cNvPr id="178" name="Text 22"/>
          <p:cNvSpPr txBox="1"/>
          <p:nvPr/>
        </p:nvSpPr>
        <p:spPr>
          <a:xfrm>
            <a:off x="9710926" y="4437712"/>
            <a:ext cx="1792225" cy="329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0000"/>
              </a:lnSpc>
              <a:defRPr sz="1000">
                <a:solidFill>
                  <a:srgbClr val="DCEBF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We only implement in 80/10/10 </a:t>
            </a:r>
          </a:p>
          <a:p>
            <a:pPr>
              <a:lnSpc>
                <a:spcPct val="120000"/>
              </a:lnSpc>
              <a:defRPr sz="1000">
                <a:solidFill>
                  <a:srgbClr val="DCEBF2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Format.</a:t>
            </a:r>
          </a:p>
        </p:txBody>
      </p:sp>
      <p:sp>
        <p:nvSpPr>
          <p:cNvPr id="179" name="Text 23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 txBox="1"/>
          <p:nvPr/>
        </p:nvSpPr>
        <p:spPr>
          <a:xfrm>
            <a:off x="548640" y="5616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08 · SOFTWARE</a:t>
            </a:r>
          </a:p>
        </p:txBody>
      </p:sp>
      <p:sp>
        <p:nvSpPr>
          <p:cNvPr id="182" name="Text 1"/>
          <p:cNvSpPr txBox="1"/>
          <p:nvPr/>
        </p:nvSpPr>
        <p:spPr>
          <a:xfrm>
            <a:off x="421987" y="1017396"/>
            <a:ext cx="1106424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Software and tooling stack</a:t>
            </a:r>
          </a:p>
        </p:txBody>
      </p:sp>
      <p:sp>
        <p:nvSpPr>
          <p:cNvPr id="183" name="Shape 2"/>
          <p:cNvSpPr/>
          <p:nvPr/>
        </p:nvSpPr>
        <p:spPr>
          <a:xfrm>
            <a:off x="548638" y="1791515"/>
            <a:ext cx="3520444" cy="3840482"/>
          </a:xfrm>
          <a:prstGeom prst="roundRect">
            <a:avLst>
              <a:gd name="adj" fmla="val 2078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4" name="Text 3"/>
          <p:cNvSpPr txBox="1"/>
          <p:nvPr/>
        </p:nvSpPr>
        <p:spPr>
          <a:xfrm>
            <a:off x="822960" y="2113279"/>
            <a:ext cx="29718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 processing</a:t>
            </a:r>
          </a:p>
        </p:txBody>
      </p:sp>
      <p:sp>
        <p:nvSpPr>
          <p:cNvPr id="185" name="Shape 4"/>
          <p:cNvSpPr/>
          <p:nvPr/>
        </p:nvSpPr>
        <p:spPr>
          <a:xfrm>
            <a:off x="822958" y="2696081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6" name="Text 5"/>
          <p:cNvSpPr txBox="1"/>
          <p:nvPr/>
        </p:nvSpPr>
        <p:spPr>
          <a:xfrm>
            <a:off x="1051558" y="2658797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Python, h5py</a:t>
            </a:r>
          </a:p>
        </p:txBody>
      </p:sp>
      <p:sp>
        <p:nvSpPr>
          <p:cNvPr id="187" name="Shape 6"/>
          <p:cNvSpPr/>
          <p:nvPr/>
        </p:nvSpPr>
        <p:spPr>
          <a:xfrm>
            <a:off x="822958" y="3157166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88" name="Text 7"/>
          <p:cNvSpPr txBox="1"/>
          <p:nvPr/>
        </p:nvSpPr>
        <p:spPr>
          <a:xfrm>
            <a:off x="1051558" y="3119882"/>
            <a:ext cx="27432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NumPy / Pandas</a:t>
            </a:r>
          </a:p>
        </p:txBody>
      </p:sp>
      <p:sp>
        <p:nvSpPr>
          <p:cNvPr id="189" name="Shape 8"/>
          <p:cNvSpPr/>
          <p:nvPr/>
        </p:nvSpPr>
        <p:spPr>
          <a:xfrm>
            <a:off x="822958" y="3558664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0" name="Text 9"/>
          <p:cNvSpPr txBox="1"/>
          <p:nvPr/>
        </p:nvSpPr>
        <p:spPr>
          <a:xfrm>
            <a:off x="1051560" y="3521379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SciPy (signal filtering)</a:t>
            </a:r>
          </a:p>
        </p:txBody>
      </p:sp>
      <p:sp>
        <p:nvSpPr>
          <p:cNvPr id="191" name="Shape 10"/>
          <p:cNvSpPr/>
          <p:nvPr/>
        </p:nvSpPr>
        <p:spPr>
          <a:xfrm>
            <a:off x="4343398" y="1784494"/>
            <a:ext cx="3520443" cy="3840483"/>
          </a:xfrm>
          <a:prstGeom prst="roundRect">
            <a:avLst>
              <a:gd name="adj" fmla="val 2078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2" name="Text 11"/>
          <p:cNvSpPr txBox="1"/>
          <p:nvPr/>
        </p:nvSpPr>
        <p:spPr>
          <a:xfrm>
            <a:off x="4617720" y="2233929"/>
            <a:ext cx="29718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Modeling</a:t>
            </a:r>
          </a:p>
        </p:txBody>
      </p:sp>
      <p:sp>
        <p:nvSpPr>
          <p:cNvPr id="193" name="Shape 12"/>
          <p:cNvSpPr/>
          <p:nvPr/>
        </p:nvSpPr>
        <p:spPr>
          <a:xfrm>
            <a:off x="4617720" y="2803230"/>
            <a:ext cx="82299" cy="82299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4" name="Text 13"/>
          <p:cNvSpPr txBox="1"/>
          <p:nvPr/>
        </p:nvSpPr>
        <p:spPr>
          <a:xfrm>
            <a:off x="4846320" y="2765946"/>
            <a:ext cx="27432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PyTorch / TensorFlow</a:t>
            </a:r>
          </a:p>
        </p:txBody>
      </p:sp>
      <p:sp>
        <p:nvSpPr>
          <p:cNvPr id="195" name="Shape 14"/>
          <p:cNvSpPr/>
          <p:nvPr/>
        </p:nvSpPr>
        <p:spPr>
          <a:xfrm>
            <a:off x="4617720" y="3221862"/>
            <a:ext cx="82299" cy="82299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6" name="Text 15"/>
          <p:cNvSpPr txBox="1"/>
          <p:nvPr/>
        </p:nvSpPr>
        <p:spPr>
          <a:xfrm>
            <a:off x="4846320" y="3184577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U-Net architecture</a:t>
            </a:r>
          </a:p>
        </p:txBody>
      </p:sp>
      <p:sp>
        <p:nvSpPr>
          <p:cNvPr id="197" name="Shape 16"/>
          <p:cNvSpPr/>
          <p:nvPr/>
        </p:nvSpPr>
        <p:spPr>
          <a:xfrm>
            <a:off x="4617720" y="3558664"/>
            <a:ext cx="82299" cy="82299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98" name="Text 17"/>
          <p:cNvSpPr txBox="1"/>
          <p:nvPr/>
        </p:nvSpPr>
        <p:spPr>
          <a:xfrm>
            <a:off x="4846320" y="3521379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Light / Tiny / Nano U-Net variants</a:t>
            </a:r>
          </a:p>
        </p:txBody>
      </p:sp>
      <p:sp>
        <p:nvSpPr>
          <p:cNvPr id="199" name="Shape 18"/>
          <p:cNvSpPr/>
          <p:nvPr/>
        </p:nvSpPr>
        <p:spPr>
          <a:xfrm>
            <a:off x="8138159" y="1720327"/>
            <a:ext cx="3520442" cy="3840483"/>
          </a:xfrm>
          <a:prstGeom prst="roundRect">
            <a:avLst>
              <a:gd name="adj" fmla="val 2078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0" name="Text 19"/>
          <p:cNvSpPr txBox="1"/>
          <p:nvPr/>
        </p:nvSpPr>
        <p:spPr>
          <a:xfrm>
            <a:off x="8412480" y="2233929"/>
            <a:ext cx="29718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Visualization &amp; QC</a:t>
            </a:r>
          </a:p>
        </p:txBody>
      </p:sp>
      <p:sp>
        <p:nvSpPr>
          <p:cNvPr id="201" name="Shape 20"/>
          <p:cNvSpPr/>
          <p:nvPr/>
        </p:nvSpPr>
        <p:spPr>
          <a:xfrm>
            <a:off x="8412480" y="2862072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2" name="Text 21"/>
          <p:cNvSpPr txBox="1"/>
          <p:nvPr/>
        </p:nvSpPr>
        <p:spPr>
          <a:xfrm>
            <a:off x="8641080" y="2865934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Matplotlib</a:t>
            </a:r>
          </a:p>
        </p:txBody>
      </p:sp>
      <p:sp>
        <p:nvSpPr>
          <p:cNvPr id="203" name="Shape 22"/>
          <p:cNvSpPr/>
          <p:nvPr/>
        </p:nvSpPr>
        <p:spPr>
          <a:xfrm>
            <a:off x="8412480" y="3221862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4" name="Text 23"/>
          <p:cNvSpPr txBox="1"/>
          <p:nvPr/>
        </p:nvSpPr>
        <p:spPr>
          <a:xfrm>
            <a:off x="8633459" y="3184577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Interactive gather viewer</a:t>
            </a:r>
          </a:p>
        </p:txBody>
      </p:sp>
      <p:sp>
        <p:nvSpPr>
          <p:cNvPr id="205" name="Shape 24"/>
          <p:cNvSpPr/>
          <p:nvPr/>
        </p:nvSpPr>
        <p:spPr>
          <a:xfrm>
            <a:off x="8412480" y="3558664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06" name="Text 25"/>
          <p:cNvSpPr txBox="1"/>
          <p:nvPr/>
        </p:nvSpPr>
        <p:spPr>
          <a:xfrm>
            <a:off x="8641080" y="3509983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Jupyter notebooks</a:t>
            </a:r>
          </a:p>
        </p:txBody>
      </p:sp>
      <p:sp>
        <p:nvSpPr>
          <p:cNvPr id="207" name="Text 26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08" name="HDF5 seismic datasets"/>
          <p:cNvSpPr txBox="1"/>
          <p:nvPr/>
        </p:nvSpPr>
        <p:spPr>
          <a:xfrm>
            <a:off x="1012862" y="3821258"/>
            <a:ext cx="1479311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HDF5 seismic datasets</a:t>
            </a:r>
          </a:p>
        </p:txBody>
      </p:sp>
      <p:sp>
        <p:nvSpPr>
          <p:cNvPr id="209" name="Trace &amp; gather preprocessing"/>
          <p:cNvSpPr txBox="1"/>
          <p:nvPr/>
        </p:nvSpPr>
        <p:spPr>
          <a:xfrm>
            <a:off x="1012862" y="4211521"/>
            <a:ext cx="1904513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Trace &amp; gather preprocessing</a:t>
            </a:r>
          </a:p>
        </p:txBody>
      </p:sp>
      <p:sp>
        <p:nvSpPr>
          <p:cNvPr id="210" name="Label alignment &amp; validation"/>
          <p:cNvSpPr txBox="1"/>
          <p:nvPr/>
        </p:nvSpPr>
        <p:spPr>
          <a:xfrm>
            <a:off x="1012862" y="4602227"/>
            <a:ext cx="186909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Label alignment &amp; validation</a:t>
            </a:r>
          </a:p>
        </p:txBody>
      </p:sp>
      <p:sp>
        <p:nvSpPr>
          <p:cNvPr id="211" name="Text 17"/>
          <p:cNvSpPr txBox="1"/>
          <p:nvPr/>
        </p:nvSpPr>
        <p:spPr>
          <a:xfrm>
            <a:off x="4846320" y="3858181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MobileUNet architecture</a:t>
            </a:r>
          </a:p>
        </p:txBody>
      </p:sp>
      <p:sp>
        <p:nvSpPr>
          <p:cNvPr id="212" name="Text 17"/>
          <p:cNvSpPr txBox="1"/>
          <p:nvPr/>
        </p:nvSpPr>
        <p:spPr>
          <a:xfrm>
            <a:off x="4846320" y="4201460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MPS-based training</a:t>
            </a:r>
          </a:p>
        </p:txBody>
      </p:sp>
      <p:sp>
        <p:nvSpPr>
          <p:cNvPr id="213" name="Text 17"/>
          <p:cNvSpPr txBox="1"/>
          <p:nvPr/>
        </p:nvSpPr>
        <p:spPr>
          <a:xfrm>
            <a:off x="4846320" y="4544738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MLflow experiment tracking</a:t>
            </a:r>
          </a:p>
        </p:txBody>
      </p:sp>
      <p:sp>
        <p:nvSpPr>
          <p:cNvPr id="214" name="Shape 16"/>
          <p:cNvSpPr/>
          <p:nvPr/>
        </p:nvSpPr>
        <p:spPr>
          <a:xfrm>
            <a:off x="4617720" y="3904262"/>
            <a:ext cx="82299" cy="82299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5" name="Shape 16"/>
          <p:cNvSpPr/>
          <p:nvPr/>
        </p:nvSpPr>
        <p:spPr>
          <a:xfrm>
            <a:off x="4617720" y="4238745"/>
            <a:ext cx="82299" cy="82299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6" name="Shape 16"/>
          <p:cNvSpPr/>
          <p:nvPr/>
        </p:nvSpPr>
        <p:spPr>
          <a:xfrm>
            <a:off x="4617720" y="4582023"/>
            <a:ext cx="82299" cy="82299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7" name="Shape 8"/>
          <p:cNvSpPr/>
          <p:nvPr/>
        </p:nvSpPr>
        <p:spPr>
          <a:xfrm>
            <a:off x="822958" y="3904262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8" name="Shape 8"/>
          <p:cNvSpPr/>
          <p:nvPr/>
        </p:nvSpPr>
        <p:spPr>
          <a:xfrm>
            <a:off x="822958" y="4294523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9" name="Shape 8"/>
          <p:cNvSpPr/>
          <p:nvPr/>
        </p:nvSpPr>
        <p:spPr>
          <a:xfrm>
            <a:off x="822958" y="4685231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0" name="Text 25"/>
          <p:cNvSpPr txBox="1"/>
          <p:nvPr/>
        </p:nvSpPr>
        <p:spPr>
          <a:xfrm>
            <a:off x="8641080" y="3821256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TensorBoard</a:t>
            </a:r>
          </a:p>
        </p:txBody>
      </p:sp>
      <p:sp>
        <p:nvSpPr>
          <p:cNvPr id="221" name="Text 25"/>
          <p:cNvSpPr txBox="1"/>
          <p:nvPr/>
        </p:nvSpPr>
        <p:spPr>
          <a:xfrm>
            <a:off x="8641080" y="4157004"/>
            <a:ext cx="27432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Training / validation curves</a:t>
            </a:r>
          </a:p>
        </p:txBody>
      </p:sp>
      <p:sp>
        <p:nvSpPr>
          <p:cNvPr id="222" name="Text 25"/>
          <p:cNvSpPr txBox="1"/>
          <p:nvPr/>
        </p:nvSpPr>
        <p:spPr>
          <a:xfrm>
            <a:off x="8641080" y="4460897"/>
            <a:ext cx="27432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Prediction &amp; first-break QC plots notebooks</a:t>
            </a:r>
          </a:p>
        </p:txBody>
      </p:sp>
      <p:sp>
        <p:nvSpPr>
          <p:cNvPr id="223" name="Shape 24"/>
          <p:cNvSpPr/>
          <p:nvPr/>
        </p:nvSpPr>
        <p:spPr>
          <a:xfrm>
            <a:off x="8412480" y="3858541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4" name="Shape 24"/>
          <p:cNvSpPr/>
          <p:nvPr/>
        </p:nvSpPr>
        <p:spPr>
          <a:xfrm>
            <a:off x="8412480" y="4194288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25" name="Shape 24"/>
          <p:cNvSpPr/>
          <p:nvPr/>
        </p:nvSpPr>
        <p:spPr>
          <a:xfrm>
            <a:off x="8412480" y="4498180"/>
            <a:ext cx="82299" cy="82299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22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07</a:t>
            </a:r>
          </a:p>
        </p:txBody>
      </p:sp>
      <p:pic>
        <p:nvPicPr>
          <p:cNvPr id="228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77160" y="110068"/>
            <a:ext cx="11344314" cy="60611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 txBox="1"/>
          <p:nvPr/>
        </p:nvSpPr>
        <p:spPr>
          <a:xfrm>
            <a:off x="548640" y="5616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06 · EVALUATION</a:t>
            </a:r>
          </a:p>
        </p:txBody>
      </p:sp>
      <p:sp>
        <p:nvSpPr>
          <p:cNvPr id="231" name="Text 1"/>
          <p:cNvSpPr txBox="1"/>
          <p:nvPr/>
        </p:nvSpPr>
        <p:spPr>
          <a:xfrm>
            <a:off x="548638" y="953768"/>
            <a:ext cx="11064244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Metrics</a:t>
            </a:r>
          </a:p>
        </p:txBody>
      </p:sp>
      <p:sp>
        <p:nvSpPr>
          <p:cNvPr id="232" name="Text 2"/>
          <p:cNvSpPr txBox="1"/>
          <p:nvPr/>
        </p:nvSpPr>
        <p:spPr>
          <a:xfrm>
            <a:off x="548638" y="1836859"/>
            <a:ext cx="11064244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300">
                <a:solidFill>
                  <a:srgbClr val="1A273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Model output is compared against the expert-labeled SPARE1 times. The metrics below are computed per asset and in aggregate across all assets.</a:t>
            </a:r>
          </a:p>
        </p:txBody>
      </p:sp>
      <p:sp>
        <p:nvSpPr>
          <p:cNvPr id="233" name="Shape 3"/>
          <p:cNvSpPr/>
          <p:nvPr/>
        </p:nvSpPr>
        <p:spPr>
          <a:xfrm>
            <a:off x="548640" y="2423160"/>
            <a:ext cx="2606040" cy="228600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4" name="Shape 4"/>
          <p:cNvSpPr/>
          <p:nvPr/>
        </p:nvSpPr>
        <p:spPr>
          <a:xfrm>
            <a:off x="548640" y="2423160"/>
            <a:ext cx="2606040" cy="82298"/>
          </a:xfrm>
          <a:prstGeom prst="rect">
            <a:avLst/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5" name="Text 5"/>
          <p:cNvSpPr txBox="1"/>
          <p:nvPr/>
        </p:nvSpPr>
        <p:spPr>
          <a:xfrm>
            <a:off x="1394259" y="2733955"/>
            <a:ext cx="104812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236" name="Text 6"/>
          <p:cNvSpPr txBox="1"/>
          <p:nvPr/>
        </p:nvSpPr>
        <p:spPr>
          <a:xfrm>
            <a:off x="731520" y="3254554"/>
            <a:ext cx="2240280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IoU,F1,Accuracy,Recall,Precision,Train/Val Loss</a:t>
            </a:r>
          </a:p>
        </p:txBody>
      </p:sp>
      <p:sp>
        <p:nvSpPr>
          <p:cNvPr id="237" name="Text 7"/>
          <p:cNvSpPr txBox="1"/>
          <p:nvPr/>
        </p:nvSpPr>
        <p:spPr>
          <a:xfrm>
            <a:off x="731519" y="3973754"/>
            <a:ext cx="2240283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457200">
              <a:spcBef>
                <a:spcPts val="1200"/>
              </a:spcBef>
              <a:defRPr i="1" sz="1100">
                <a:latin typeface="Times Roman"/>
                <a:ea typeface="Times Roman"/>
                <a:cs typeface="Times Roman"/>
                <a:sym typeface="Times Roman"/>
              </a:defRPr>
            </a:lvl1pPr>
          </a:lstStyle>
          <a:p>
            <a:pPr/>
            <a:r>
              <a:t>Core metrics for evaluating segmentation quality and training stability.</a:t>
            </a:r>
          </a:p>
        </p:txBody>
      </p:sp>
      <p:sp>
        <p:nvSpPr>
          <p:cNvPr id="238" name="Shape 8"/>
          <p:cNvSpPr/>
          <p:nvPr/>
        </p:nvSpPr>
        <p:spPr>
          <a:xfrm>
            <a:off x="3410710" y="2423160"/>
            <a:ext cx="2606042" cy="228600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39" name="Shape 9"/>
          <p:cNvSpPr/>
          <p:nvPr/>
        </p:nvSpPr>
        <p:spPr>
          <a:xfrm>
            <a:off x="3410710" y="2423160"/>
            <a:ext cx="2606042" cy="82298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0" name="Text 10"/>
          <p:cNvSpPr txBox="1"/>
          <p:nvPr/>
        </p:nvSpPr>
        <p:spPr>
          <a:xfrm>
            <a:off x="4240762" y="2733955"/>
            <a:ext cx="113675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System </a:t>
            </a:r>
          </a:p>
        </p:txBody>
      </p:sp>
      <p:sp>
        <p:nvSpPr>
          <p:cNvPr id="241" name="Text 11"/>
          <p:cNvSpPr txBox="1"/>
          <p:nvPr/>
        </p:nvSpPr>
        <p:spPr>
          <a:xfrm>
            <a:off x="3593591" y="3254554"/>
            <a:ext cx="224028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Memory Usage &amp;Performance</a:t>
            </a:r>
          </a:p>
        </p:txBody>
      </p:sp>
      <p:sp>
        <p:nvSpPr>
          <p:cNvPr id="242" name="Text 12"/>
          <p:cNvSpPr txBox="1"/>
          <p:nvPr/>
        </p:nvSpPr>
        <p:spPr>
          <a:xfrm>
            <a:off x="3593591" y="3904287"/>
            <a:ext cx="2240282" cy="329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Tracks how much memory the model uses and how fast it runs.</a:t>
            </a:r>
          </a:p>
        </p:txBody>
      </p:sp>
      <p:sp>
        <p:nvSpPr>
          <p:cNvPr id="243" name="Shape 13"/>
          <p:cNvSpPr/>
          <p:nvPr/>
        </p:nvSpPr>
        <p:spPr>
          <a:xfrm>
            <a:off x="6272784" y="2423160"/>
            <a:ext cx="2606042" cy="228600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4" name="Shape 14"/>
          <p:cNvSpPr/>
          <p:nvPr/>
        </p:nvSpPr>
        <p:spPr>
          <a:xfrm>
            <a:off x="6272784" y="2423160"/>
            <a:ext cx="2606042" cy="82298"/>
          </a:xfrm>
          <a:prstGeom prst="rect">
            <a:avLst/>
          </a:prstGeom>
          <a:solidFill>
            <a:srgbClr val="21295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5" name="Text 15"/>
          <p:cNvSpPr txBox="1"/>
          <p:nvPr/>
        </p:nvSpPr>
        <p:spPr>
          <a:xfrm>
            <a:off x="6455662" y="2761742"/>
            <a:ext cx="224028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First Break Picking</a:t>
            </a:r>
          </a:p>
        </p:txBody>
      </p:sp>
      <p:sp>
        <p:nvSpPr>
          <p:cNvPr id="246" name="Text 16"/>
          <p:cNvSpPr txBox="1"/>
          <p:nvPr/>
        </p:nvSpPr>
        <p:spPr>
          <a:xfrm>
            <a:off x="6410773" y="3254554"/>
            <a:ext cx="2330064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Min, Max, Mean, Std absolute error</a:t>
            </a:r>
          </a:p>
        </p:txBody>
      </p:sp>
      <p:sp>
        <p:nvSpPr>
          <p:cNvPr id="247" name="Text 17"/>
          <p:cNvSpPr txBox="1"/>
          <p:nvPr/>
        </p:nvSpPr>
        <p:spPr>
          <a:xfrm>
            <a:off x="6455664" y="3904287"/>
            <a:ext cx="2240282" cy="329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Summarizes the spread and average size of the timing error.</a:t>
            </a:r>
          </a:p>
        </p:txBody>
      </p:sp>
      <p:sp>
        <p:nvSpPr>
          <p:cNvPr id="248" name="Shape 18"/>
          <p:cNvSpPr/>
          <p:nvPr/>
        </p:nvSpPr>
        <p:spPr>
          <a:xfrm>
            <a:off x="9134856" y="2423160"/>
            <a:ext cx="2606042" cy="228600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5E4EC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49" name="Shape 19"/>
          <p:cNvSpPr/>
          <p:nvPr/>
        </p:nvSpPr>
        <p:spPr>
          <a:xfrm>
            <a:off x="9134856" y="2423160"/>
            <a:ext cx="2606042" cy="82298"/>
          </a:xfrm>
          <a:prstGeom prst="rect">
            <a:avLst/>
          </a:prstGeom>
          <a:solidFill>
            <a:srgbClr val="3E7CA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0" name="Text 20"/>
          <p:cNvSpPr txBox="1"/>
          <p:nvPr/>
        </p:nvSpPr>
        <p:spPr>
          <a:xfrm>
            <a:off x="10004327" y="2761742"/>
            <a:ext cx="224028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</a:t>
            </a:r>
          </a:p>
        </p:txBody>
      </p:sp>
      <p:sp>
        <p:nvSpPr>
          <p:cNvPr id="251" name="Text 21"/>
          <p:cNvSpPr txBox="1"/>
          <p:nvPr/>
        </p:nvSpPr>
        <p:spPr>
          <a:xfrm>
            <a:off x="9317735" y="3305382"/>
            <a:ext cx="2240282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Ratio, trace/sample count, invalid picks</a:t>
            </a:r>
          </a:p>
        </p:txBody>
      </p:sp>
      <p:sp>
        <p:nvSpPr>
          <p:cNvPr id="252" name="Text 22"/>
          <p:cNvSpPr txBox="1"/>
          <p:nvPr/>
        </p:nvSpPr>
        <p:spPr>
          <a:xfrm>
            <a:off x="9404392" y="3942610"/>
            <a:ext cx="2240282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defTabSz="457200">
              <a:spcBef>
                <a:spcPts val="1200"/>
              </a:spcBef>
              <a:defRPr i="1" sz="12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Tracks how many picks are valid versus unreliable across traces.</a:t>
            </a:r>
          </a:p>
          <a:p>
            <a:pPr defTabSz="457200"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defTabSz="457200"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defTabSz="457200"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</a:p>
        </p:txBody>
      </p:sp>
      <p:sp>
        <p:nvSpPr>
          <p:cNvPr id="253" name="Text 23"/>
          <p:cNvSpPr txBox="1"/>
          <p:nvPr/>
        </p:nvSpPr>
        <p:spPr>
          <a:xfrm>
            <a:off x="548638" y="5189264"/>
            <a:ext cx="1106424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Note: fill in actual MAE and pick-rate figures here once validation results are available.</a:t>
            </a:r>
          </a:p>
        </p:txBody>
      </p:sp>
      <p:sp>
        <p:nvSpPr>
          <p:cNvPr id="254" name="Text 24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1"/>
          <p:cNvSpPr txBox="1"/>
          <p:nvPr/>
        </p:nvSpPr>
        <p:spPr>
          <a:xfrm>
            <a:off x="475314" y="87406"/>
            <a:ext cx="1106424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Part Of Metrics Results </a:t>
            </a:r>
          </a:p>
        </p:txBody>
      </p:sp>
      <p:pic>
        <p:nvPicPr>
          <p:cNvPr id="257" name="picounet_epoch_20_halfmile_train_loss.png" descr="picounet_epoch_20_halfmile_train_lo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-7967" y="3879384"/>
            <a:ext cx="4959112" cy="2479556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Train Loss Pico U-Net"/>
          <p:cNvSpPr txBox="1"/>
          <p:nvPr/>
        </p:nvSpPr>
        <p:spPr>
          <a:xfrm>
            <a:off x="1098880" y="3469101"/>
            <a:ext cx="2172143" cy="348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Train Loss Pico U-Net</a:t>
            </a:r>
          </a:p>
        </p:txBody>
      </p:sp>
      <p:pic>
        <p:nvPicPr>
          <p:cNvPr id="259" name="picounet_epoch_20_halfmile_val_loss.png" descr="picounet_epoch_20_halfmile_val_loss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399415" y="3844192"/>
            <a:ext cx="4709607" cy="2354804"/>
          </a:xfrm>
          <a:prstGeom prst="rect">
            <a:avLst/>
          </a:prstGeom>
          <a:ln w="12700">
            <a:miter lim="400000"/>
          </a:ln>
        </p:spPr>
      </p:pic>
      <p:sp>
        <p:nvSpPr>
          <p:cNvPr id="260" name="Validation Loss Pico U-Net"/>
          <p:cNvSpPr txBox="1"/>
          <p:nvPr/>
        </p:nvSpPr>
        <p:spPr>
          <a:xfrm>
            <a:off x="5161865" y="3469101"/>
            <a:ext cx="2624766" cy="348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Validation Loss Pico U-Net</a:t>
            </a:r>
          </a:p>
        </p:txBody>
      </p:sp>
      <p:pic>
        <p:nvPicPr>
          <p:cNvPr id="261" name="picounet_epoch_20_halfmile_val_iou.png" descr="picounet_epoch_20_halfmile_val_iou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599647" y="3969158"/>
            <a:ext cx="4600016" cy="2300008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Val IoU Pico U-Net"/>
          <p:cNvSpPr txBox="1"/>
          <p:nvPr/>
        </p:nvSpPr>
        <p:spPr>
          <a:xfrm>
            <a:off x="9185503" y="3469101"/>
            <a:ext cx="1913517" cy="348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Val IoU Pico U-Net</a:t>
            </a:r>
          </a:p>
        </p:txBody>
      </p:sp>
      <p:pic>
        <p:nvPicPr>
          <p:cNvPr id="263" name="UNet_Halfmile_val_class_2_iou.png" descr="UNet_Halfmile_val_class_2_iou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991469" y="912356"/>
            <a:ext cx="4709607" cy="23548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64" name="UNet_Halfmile_val_loss.png" descr="UNet_Halfmile_val_loss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657183" y="1122384"/>
            <a:ext cx="4194071" cy="2097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265" name="UNet_Halfmile_train_loss.png" descr="UNet_Halfmile_train_loss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2524" y="1085616"/>
            <a:ext cx="4531506" cy="2265754"/>
          </a:xfrm>
          <a:prstGeom prst="rect">
            <a:avLst/>
          </a:prstGeom>
          <a:ln w="12700">
            <a:miter lim="400000"/>
          </a:ln>
        </p:spPr>
      </p:pic>
      <p:sp>
        <p:nvSpPr>
          <p:cNvPr id="266" name="Train Loss U-Net"/>
          <p:cNvSpPr txBox="1"/>
          <p:nvPr/>
        </p:nvSpPr>
        <p:spPr>
          <a:xfrm>
            <a:off x="1264002" y="524275"/>
            <a:ext cx="1708581" cy="348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Train Loss U-Net</a:t>
            </a:r>
          </a:p>
        </p:txBody>
      </p:sp>
      <p:sp>
        <p:nvSpPr>
          <p:cNvPr id="267" name="Validation Loss U-Net"/>
          <p:cNvSpPr txBox="1"/>
          <p:nvPr/>
        </p:nvSpPr>
        <p:spPr>
          <a:xfrm>
            <a:off x="5214487" y="524275"/>
            <a:ext cx="2161205" cy="348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Validation Loss U-Net</a:t>
            </a:r>
          </a:p>
        </p:txBody>
      </p:sp>
      <p:sp>
        <p:nvSpPr>
          <p:cNvPr id="268" name="Val IoU Loss U-Net"/>
          <p:cNvSpPr txBox="1"/>
          <p:nvPr/>
        </p:nvSpPr>
        <p:spPr>
          <a:xfrm>
            <a:off x="9332762" y="361985"/>
            <a:ext cx="1938966" cy="348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Val IoU Loss U-Net</a:t>
            </a:r>
          </a:p>
        </p:txBody>
      </p:sp>
      <p:sp>
        <p:nvSpPr>
          <p:cNvPr id="269" name="Text 24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 txBox="1"/>
          <p:nvPr/>
        </p:nvSpPr>
        <p:spPr>
          <a:xfrm>
            <a:off x="488646" y="10169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07 · RESULTS</a:t>
            </a:r>
          </a:p>
        </p:txBody>
      </p:sp>
      <p:sp>
        <p:nvSpPr>
          <p:cNvPr id="272" name="Text 1"/>
          <p:cNvSpPr txBox="1"/>
          <p:nvPr/>
        </p:nvSpPr>
        <p:spPr>
          <a:xfrm>
            <a:off x="497220" y="313188"/>
            <a:ext cx="11064241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Prediction Results (U-Net Model Best One HalfMile Dataset)</a:t>
            </a:r>
          </a:p>
        </p:txBody>
      </p:sp>
      <p:sp>
        <p:nvSpPr>
          <p:cNvPr id="273" name="Text 4"/>
          <p:cNvSpPr txBox="1"/>
          <p:nvPr/>
        </p:nvSpPr>
        <p:spPr>
          <a:xfrm>
            <a:off x="7315200" y="2072639"/>
            <a:ext cx="36576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✓</a:t>
            </a:r>
          </a:p>
        </p:txBody>
      </p:sp>
      <p:sp>
        <p:nvSpPr>
          <p:cNvPr id="274" name="Text 12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10</a:t>
            </a:r>
          </a:p>
        </p:txBody>
      </p:sp>
      <p:pic>
        <p:nvPicPr>
          <p:cNvPr id="275" name="Bestone1UnetHalfmile.jpeg" descr="Bestone1UnetHalfmile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5326" y="896388"/>
            <a:ext cx="5930210" cy="2635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76" name="unethalfmile2.jpeg" descr="unethalfmile2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86063" y="942225"/>
            <a:ext cx="5723918" cy="2543567"/>
          </a:xfrm>
          <a:prstGeom prst="rect">
            <a:avLst/>
          </a:prstGeom>
          <a:ln w="12700">
            <a:miter lim="400000"/>
          </a:ln>
        </p:spPr>
      </p:pic>
      <p:pic>
        <p:nvPicPr>
          <p:cNvPr id="277" name="unet2yenihalfmile.jpeg" descr="unet2yenihalfmile.jpe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6332" y="3790205"/>
            <a:ext cx="6108199" cy="2714332"/>
          </a:xfrm>
          <a:prstGeom prst="rect">
            <a:avLst/>
          </a:prstGeom>
          <a:ln w="12700">
            <a:miter lim="400000"/>
          </a:ln>
        </p:spPr>
      </p:pic>
      <p:pic>
        <p:nvPicPr>
          <p:cNvPr id="278" name="yeni4halfmileunet.jpeg" descr="yeni4halfmileunet.jpe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335814" y="3897695"/>
            <a:ext cx="5624417" cy="24993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test_shot_worst.png" descr="test_shot_wor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95400" y="-1"/>
            <a:ext cx="9601200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test_shot_best.png" descr="test_shot_be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95400" y="-1"/>
            <a:ext cx="9601200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test_shot_median.png" descr="test_shot_media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95400" y="56530"/>
            <a:ext cx="9601200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shot_best.png" descr="shot_be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4785" y="0"/>
            <a:ext cx="10287001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 txBox="1"/>
          <p:nvPr/>
        </p:nvSpPr>
        <p:spPr>
          <a:xfrm>
            <a:off x="488646" y="10169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07 · RESULTS</a:t>
            </a:r>
          </a:p>
        </p:txBody>
      </p:sp>
      <p:sp>
        <p:nvSpPr>
          <p:cNvPr id="289" name="Text 1"/>
          <p:cNvSpPr txBox="1"/>
          <p:nvPr/>
        </p:nvSpPr>
        <p:spPr>
          <a:xfrm>
            <a:off x="375332" y="451105"/>
            <a:ext cx="1144133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Prediction Results (Pico U-Net Model Worst One HalfMile Dataset)</a:t>
            </a:r>
          </a:p>
        </p:txBody>
      </p:sp>
      <p:pic>
        <p:nvPicPr>
          <p:cNvPr id="290" name="picounet_epoch_5_halfmile_prediction_1.png" descr="picounet_epoch_5_halfmile_prediction_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6651" y="1113549"/>
            <a:ext cx="6096507" cy="2006689"/>
          </a:xfrm>
          <a:prstGeom prst="rect">
            <a:avLst/>
          </a:prstGeom>
          <a:ln w="12700">
            <a:miter lim="400000"/>
          </a:ln>
        </p:spPr>
      </p:pic>
      <p:pic>
        <p:nvPicPr>
          <p:cNvPr id="291" name="picounet_epoch_20_halfmile_prediction_2.png" descr="picounet_epoch_20_halfmile_prediction_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1752" y="3609449"/>
            <a:ext cx="6186305" cy="2036244"/>
          </a:xfrm>
          <a:prstGeom prst="rect">
            <a:avLst/>
          </a:prstGeom>
          <a:ln w="12700">
            <a:miter lim="400000"/>
          </a:ln>
        </p:spPr>
      </p:pic>
      <p:pic>
        <p:nvPicPr>
          <p:cNvPr id="292" name="picounet_epoch_20_halfmile_prediction_3.png" descr="picounet_epoch_20_halfmile_prediction_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50674" y="1182871"/>
            <a:ext cx="5675297" cy="1868045"/>
          </a:xfrm>
          <a:prstGeom prst="rect">
            <a:avLst/>
          </a:prstGeom>
          <a:ln w="12700">
            <a:miter lim="400000"/>
          </a:ln>
        </p:spPr>
      </p:pic>
      <p:pic>
        <p:nvPicPr>
          <p:cNvPr id="293" name="picounet_epoch_15_halfmile_prediction_4.png" descr="picounet_epoch_15_halfmile_prediction_4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50674" y="3693548"/>
            <a:ext cx="5675299" cy="1868047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Text 24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 txBox="1"/>
          <p:nvPr/>
        </p:nvSpPr>
        <p:spPr>
          <a:xfrm>
            <a:off x="455316" y="81699"/>
            <a:ext cx="73152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09 · Further</a:t>
            </a:r>
          </a:p>
        </p:txBody>
      </p:sp>
      <p:sp>
        <p:nvSpPr>
          <p:cNvPr id="297" name="Text 1"/>
          <p:cNvSpPr txBox="1"/>
          <p:nvPr/>
        </p:nvSpPr>
        <p:spPr>
          <a:xfrm>
            <a:off x="1381882" y="607287"/>
            <a:ext cx="2295383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Limitations</a:t>
            </a:r>
          </a:p>
        </p:txBody>
      </p:sp>
      <p:sp>
        <p:nvSpPr>
          <p:cNvPr id="298" name="Shape 2"/>
          <p:cNvSpPr/>
          <p:nvPr/>
        </p:nvSpPr>
        <p:spPr>
          <a:xfrm>
            <a:off x="415321" y="1445909"/>
            <a:ext cx="5349241" cy="4114803"/>
          </a:xfrm>
          <a:prstGeom prst="roundRect">
            <a:avLst>
              <a:gd name="adj" fmla="val 1778"/>
            </a:avLst>
          </a:prstGeom>
          <a:solidFill>
            <a:srgbClr val="EAF4F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99" name="Shape 5"/>
          <p:cNvSpPr/>
          <p:nvPr/>
        </p:nvSpPr>
        <p:spPr>
          <a:xfrm>
            <a:off x="662034" y="2286000"/>
            <a:ext cx="91443" cy="91443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0" name="Text 6"/>
          <p:cNvSpPr txBox="1"/>
          <p:nvPr/>
        </p:nvSpPr>
        <p:spPr>
          <a:xfrm>
            <a:off x="872520" y="2105551"/>
            <a:ext cx="4434842" cy="584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Limited Training Resources:</a:t>
            </a:r>
            <a:r>
              <a:rPr b="0"/>
              <a:t> The required training hardware was not provided, and no dedicated compute resources were allocated for model training.</a:t>
            </a:r>
          </a:p>
        </p:txBody>
      </p:sp>
      <p:sp>
        <p:nvSpPr>
          <p:cNvPr id="301" name="Shape 7"/>
          <p:cNvSpPr/>
          <p:nvPr/>
        </p:nvSpPr>
        <p:spPr>
          <a:xfrm>
            <a:off x="662034" y="3157409"/>
            <a:ext cx="91443" cy="91443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2" name="Text 8"/>
          <p:cNvSpPr txBox="1"/>
          <p:nvPr/>
        </p:nvSpPr>
        <p:spPr>
          <a:xfrm>
            <a:off x="872520" y="2910668"/>
            <a:ext cx="4434842" cy="584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High Memory Consumption:</a:t>
            </a:r>
            <a:r>
              <a:rPr b="0"/>
              <a:t> Our models tend to retain a significant amount of memory, creating deployment and storage challenges, particularly due to the large size of the seismic datasets.</a:t>
            </a:r>
          </a:p>
        </p:txBody>
      </p:sp>
      <p:sp>
        <p:nvSpPr>
          <p:cNvPr id="303" name="Shape 9"/>
          <p:cNvSpPr/>
          <p:nvPr/>
        </p:nvSpPr>
        <p:spPr>
          <a:xfrm>
            <a:off x="608708" y="3944927"/>
            <a:ext cx="91443" cy="91443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4" name="Text 10"/>
          <p:cNvSpPr txBox="1"/>
          <p:nvPr/>
        </p:nvSpPr>
        <p:spPr>
          <a:xfrm>
            <a:off x="872520" y="3745978"/>
            <a:ext cx="4434842" cy="5849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CPU Limitations:</a:t>
            </a:r>
            <a:r>
              <a:rPr b="0"/>
              <a:t> The available systems have limited CPU capacity, making frequent CPU access for processing and feeding large datasets into the training pipeline inefficient.</a:t>
            </a:r>
          </a:p>
        </p:txBody>
      </p:sp>
      <p:sp>
        <p:nvSpPr>
          <p:cNvPr id="305" name="Shape 11"/>
          <p:cNvSpPr/>
          <p:nvPr/>
        </p:nvSpPr>
        <p:spPr>
          <a:xfrm>
            <a:off x="6172200" y="1398116"/>
            <a:ext cx="5349241" cy="4537482"/>
          </a:xfrm>
          <a:prstGeom prst="roundRect">
            <a:avLst>
              <a:gd name="adj" fmla="val 1612"/>
            </a:avLst>
          </a:prstGeom>
          <a:solidFill>
            <a:srgbClr val="065A8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6" name="Shape 14"/>
          <p:cNvSpPr/>
          <p:nvPr/>
        </p:nvSpPr>
        <p:spPr>
          <a:xfrm>
            <a:off x="6398917" y="1933698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7" name="Text 15"/>
          <p:cNvSpPr txBox="1"/>
          <p:nvPr/>
        </p:nvSpPr>
        <p:spPr>
          <a:xfrm>
            <a:off x="6629400" y="5126366"/>
            <a:ext cx="4434841" cy="584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Robust Training &amp; Experiment Pipeline:</a:t>
            </a:r>
            <a:r>
              <a:rPr b="0"/>
              <a:t> We developed structured training, evaluation, checkpointing, logging, and experiment-tracking components to make experiments more reproducible and systematic.</a:t>
            </a:r>
          </a:p>
        </p:txBody>
      </p:sp>
      <p:sp>
        <p:nvSpPr>
          <p:cNvPr id="308" name="Shape 16"/>
          <p:cNvSpPr/>
          <p:nvPr/>
        </p:nvSpPr>
        <p:spPr>
          <a:xfrm>
            <a:off x="6398917" y="2830925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09" name="Text 17"/>
          <p:cNvSpPr txBox="1"/>
          <p:nvPr/>
        </p:nvSpPr>
        <p:spPr>
          <a:xfrm>
            <a:off x="6629400" y="3374394"/>
            <a:ext cx="4434841" cy="584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Memory-Efficient Training:</a:t>
            </a:r>
            <a:r>
              <a:rPr b="0"/>
              <a:t> We implemented chunk-based processing, optimized data loading, and lightweight configurations to handle large seismic datasets under memory constraints.</a:t>
            </a:r>
          </a:p>
        </p:txBody>
      </p:sp>
      <p:sp>
        <p:nvSpPr>
          <p:cNvPr id="310" name="Shape 18"/>
          <p:cNvSpPr/>
          <p:nvPr/>
        </p:nvSpPr>
        <p:spPr>
          <a:xfrm>
            <a:off x="6398917" y="3728151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1" name="Text 19"/>
          <p:cNvSpPr txBox="1"/>
          <p:nvPr/>
        </p:nvSpPr>
        <p:spPr>
          <a:xfrm>
            <a:off x="6629400" y="4164606"/>
            <a:ext cx="4434841" cy="584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Multiple Model Comparison: We evaluated different architectures, including U-Net, Light U-Net, Efficient U-Net, and MobileNet-based models, rather than relying on a single model.</a:t>
            </a:r>
          </a:p>
        </p:txBody>
      </p:sp>
      <p:sp>
        <p:nvSpPr>
          <p:cNvPr id="312" name="Text 20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A6B7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313" name="Text 10"/>
          <p:cNvSpPr txBox="1"/>
          <p:nvPr/>
        </p:nvSpPr>
        <p:spPr>
          <a:xfrm>
            <a:off x="872520" y="4533710"/>
            <a:ext cx="4434842" cy="7989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21295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GPU Limitations:</a:t>
            </a:r>
            <a:r>
              <a:rPr b="0"/>
              <a:t> GPU resources were also constrained by insufficient VRAM and computational capacity. The provided A100 GPU was migrated to a </a:t>
            </a:r>
            <a:r>
              <a:t>42 SM configuration</a:t>
            </a:r>
            <a:r>
              <a:rPr b="0"/>
              <a:t>, which limited the available computing power for large-scale model training.</a:t>
            </a:r>
          </a:p>
        </p:txBody>
      </p:sp>
      <p:sp>
        <p:nvSpPr>
          <p:cNvPr id="314" name="Shape 9"/>
          <p:cNvSpPr/>
          <p:nvPr/>
        </p:nvSpPr>
        <p:spPr>
          <a:xfrm>
            <a:off x="662034" y="4732444"/>
            <a:ext cx="91443" cy="91443"/>
          </a:xfrm>
          <a:prstGeom prst="ellipse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5" name="Text 1"/>
          <p:cNvSpPr txBox="1"/>
          <p:nvPr/>
        </p:nvSpPr>
        <p:spPr>
          <a:xfrm>
            <a:off x="6241697" y="658010"/>
            <a:ext cx="563402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200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Our Strengths &amp; Improvements</a:t>
            </a:r>
          </a:p>
        </p:txBody>
      </p:sp>
      <p:sp>
        <p:nvSpPr>
          <p:cNvPr id="316" name="Text 15"/>
          <p:cNvSpPr txBox="1"/>
          <p:nvPr/>
        </p:nvSpPr>
        <p:spPr>
          <a:xfrm>
            <a:off x="6629400" y="1579941"/>
            <a:ext cx="4434841" cy="7989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Efficient Model Design:</a:t>
            </a:r>
            <a:r>
              <a:rPr b="0"/>
              <a:t> We developed and evaluated multiple lightweight U-Net-based architectures to balance model performance with limited computational resources.1D/2D CNN — per-trace time segmentation</a:t>
            </a:r>
          </a:p>
        </p:txBody>
      </p:sp>
      <p:sp>
        <p:nvSpPr>
          <p:cNvPr id="317" name="Text 15"/>
          <p:cNvSpPr txBox="1"/>
          <p:nvPr/>
        </p:nvSpPr>
        <p:spPr>
          <a:xfrm>
            <a:off x="6629400" y="2584183"/>
            <a:ext cx="4434841" cy="584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Multi-Dataset Evaluation:</a:t>
            </a:r>
            <a:r>
              <a:rPr b="0"/>
              <a:t> We worked with four real seismic datasets — </a:t>
            </a:r>
            <a:r>
              <a:t>Halfmile, Lalor, Brunswick, and Sudbury</a:t>
            </a:r>
            <a:r>
              <a:rPr b="0"/>
              <a:t> — providing broader evaluation across different data characteristics.</a:t>
            </a:r>
          </a:p>
        </p:txBody>
      </p:sp>
      <p:sp>
        <p:nvSpPr>
          <p:cNvPr id="318" name="Shape 18"/>
          <p:cNvSpPr/>
          <p:nvPr/>
        </p:nvSpPr>
        <p:spPr>
          <a:xfrm>
            <a:off x="6398917" y="4487603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9" name="Shape 18"/>
          <p:cNvSpPr/>
          <p:nvPr/>
        </p:nvSpPr>
        <p:spPr>
          <a:xfrm>
            <a:off x="6398917" y="5248147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21295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2" name="Text 1"/>
          <p:cNvSpPr txBox="1"/>
          <p:nvPr/>
        </p:nvSpPr>
        <p:spPr>
          <a:xfrm>
            <a:off x="731519" y="653086"/>
            <a:ext cx="73152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7FD1E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11-12 · CONCLUSION</a:t>
            </a:r>
          </a:p>
        </p:txBody>
      </p:sp>
      <p:sp>
        <p:nvSpPr>
          <p:cNvPr id="323" name="Text 2"/>
          <p:cNvSpPr txBox="1"/>
          <p:nvPr/>
        </p:nvSpPr>
        <p:spPr>
          <a:xfrm>
            <a:off x="731519" y="1070608"/>
            <a:ext cx="10515601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Achieved results vs. planned goals</a:t>
            </a:r>
          </a:p>
        </p:txBody>
      </p:sp>
      <p:sp>
        <p:nvSpPr>
          <p:cNvPr id="324" name="Shape 3"/>
          <p:cNvSpPr/>
          <p:nvPr/>
        </p:nvSpPr>
        <p:spPr>
          <a:xfrm>
            <a:off x="731519" y="1920238"/>
            <a:ext cx="5212082" cy="3108962"/>
          </a:xfrm>
          <a:prstGeom prst="roundRect">
            <a:avLst>
              <a:gd name="adj" fmla="val 2353"/>
            </a:avLst>
          </a:prstGeom>
          <a:solidFill>
            <a:srgbClr val="1A2456"/>
          </a:solidFill>
          <a:ln w="12700">
            <a:solidFill>
              <a:srgbClr val="35447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5" name="Text 4"/>
          <p:cNvSpPr txBox="1"/>
          <p:nvPr/>
        </p:nvSpPr>
        <p:spPr>
          <a:xfrm>
            <a:off x="1005838" y="2256789"/>
            <a:ext cx="466344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7FD1E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Planned</a:t>
            </a:r>
          </a:p>
        </p:txBody>
      </p:sp>
      <p:sp>
        <p:nvSpPr>
          <p:cNvPr id="326" name="Shape 5"/>
          <p:cNvSpPr/>
          <p:nvPr/>
        </p:nvSpPr>
        <p:spPr>
          <a:xfrm>
            <a:off x="1005838" y="2862072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7" name="Text 6"/>
          <p:cNvSpPr txBox="1"/>
          <p:nvPr/>
        </p:nvSpPr>
        <p:spPr>
          <a:xfrm>
            <a:off x="1261872" y="2934515"/>
            <a:ext cx="438912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 single, automated pipeline across all 4 assets</a:t>
            </a:r>
          </a:p>
        </p:txBody>
      </p:sp>
      <p:sp>
        <p:nvSpPr>
          <p:cNvPr id="328" name="Shape 7"/>
          <p:cNvSpPr/>
          <p:nvPr/>
        </p:nvSpPr>
        <p:spPr>
          <a:xfrm>
            <a:off x="1005838" y="3593591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29" name="Text 8"/>
          <p:cNvSpPr txBox="1"/>
          <p:nvPr/>
        </p:nvSpPr>
        <p:spPr>
          <a:xfrm>
            <a:off x="1261872" y="3666034"/>
            <a:ext cx="438912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Consistent accuracy across varying SNR conditions</a:t>
            </a:r>
          </a:p>
        </p:txBody>
      </p:sp>
      <p:sp>
        <p:nvSpPr>
          <p:cNvPr id="330" name="Shape 9"/>
          <p:cNvSpPr/>
          <p:nvPr/>
        </p:nvSpPr>
        <p:spPr>
          <a:xfrm>
            <a:off x="1005838" y="4325110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1" name="Text 10"/>
          <p:cNvSpPr txBox="1"/>
          <p:nvPr/>
        </p:nvSpPr>
        <p:spPr>
          <a:xfrm>
            <a:off x="1261872" y="4397554"/>
            <a:ext cx="438912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Significantly reduce expert manual effort</a:t>
            </a:r>
          </a:p>
        </p:txBody>
      </p:sp>
      <p:sp>
        <p:nvSpPr>
          <p:cNvPr id="332" name="Shape 11"/>
          <p:cNvSpPr/>
          <p:nvPr/>
        </p:nvSpPr>
        <p:spPr>
          <a:xfrm>
            <a:off x="6263640" y="1920238"/>
            <a:ext cx="5212082" cy="3108962"/>
          </a:xfrm>
          <a:prstGeom prst="roundRect">
            <a:avLst>
              <a:gd name="adj" fmla="val 2353"/>
            </a:avLst>
          </a:prstGeom>
          <a:solidFill>
            <a:srgbClr val="065A82"/>
          </a:solidFill>
          <a:ln w="12700">
            <a:solidFill>
              <a:srgbClr val="35447A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3" name="Text 12"/>
          <p:cNvSpPr txBox="1"/>
          <p:nvPr/>
        </p:nvSpPr>
        <p:spPr>
          <a:xfrm>
            <a:off x="6537959" y="2256789"/>
            <a:ext cx="46634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7FD1E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Achieved</a:t>
            </a:r>
          </a:p>
        </p:txBody>
      </p:sp>
      <p:sp>
        <p:nvSpPr>
          <p:cNvPr id="334" name="Shape 13"/>
          <p:cNvSpPr/>
          <p:nvPr/>
        </p:nvSpPr>
        <p:spPr>
          <a:xfrm>
            <a:off x="6537959" y="2862072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5" name="Text 14"/>
          <p:cNvSpPr txBox="1"/>
          <p:nvPr/>
        </p:nvSpPr>
        <p:spPr>
          <a:xfrm>
            <a:off x="6793992" y="2934515"/>
            <a:ext cx="438912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Gather-based data preparation pipeline completed</a:t>
            </a:r>
          </a:p>
        </p:txBody>
      </p:sp>
      <p:sp>
        <p:nvSpPr>
          <p:cNvPr id="336" name="Shape 15"/>
          <p:cNvSpPr/>
          <p:nvPr/>
        </p:nvSpPr>
        <p:spPr>
          <a:xfrm>
            <a:off x="6537959" y="3593591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7" name="Text 16"/>
          <p:cNvSpPr txBox="1"/>
          <p:nvPr/>
        </p:nvSpPr>
        <p:spPr>
          <a:xfrm>
            <a:off x="6793992" y="3666034"/>
            <a:ext cx="438912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Baseline and deep-learning models built and compared</a:t>
            </a:r>
          </a:p>
        </p:txBody>
      </p:sp>
      <p:sp>
        <p:nvSpPr>
          <p:cNvPr id="338" name="Shape 17"/>
          <p:cNvSpPr/>
          <p:nvPr/>
        </p:nvSpPr>
        <p:spPr>
          <a:xfrm>
            <a:off x="6537959" y="4325110"/>
            <a:ext cx="91443" cy="91443"/>
          </a:xfrm>
          <a:prstGeom prst="ellipse">
            <a:avLst/>
          </a:prstGeom>
          <a:solidFill>
            <a:srgbClr val="7FD1E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39" name="Text 18"/>
          <p:cNvSpPr txBox="1"/>
          <p:nvPr/>
        </p:nvSpPr>
        <p:spPr>
          <a:xfrm>
            <a:off x="6793992" y="4397554"/>
            <a:ext cx="438912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E4EFF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Cross-asset validation results presented</a:t>
            </a:r>
          </a:p>
        </p:txBody>
      </p:sp>
      <p:sp>
        <p:nvSpPr>
          <p:cNvPr id="340" name="Shape 19"/>
          <p:cNvSpPr/>
          <p:nvPr/>
        </p:nvSpPr>
        <p:spPr>
          <a:xfrm>
            <a:off x="731519" y="5349240"/>
            <a:ext cx="10698482" cy="1"/>
          </a:xfrm>
          <a:prstGeom prst="line">
            <a:avLst/>
          </a:prstGeom>
          <a:ln w="12700">
            <a:solidFill>
              <a:srgbClr val="35447A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1" name="Text 20"/>
          <p:cNvSpPr txBox="1"/>
          <p:nvPr/>
        </p:nvSpPr>
        <p:spPr>
          <a:xfrm>
            <a:off x="731519" y="5623559"/>
            <a:ext cx="73152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Thank You!</a:t>
            </a:r>
          </a:p>
        </p:txBody>
      </p:sp>
      <p:sp>
        <p:nvSpPr>
          <p:cNvPr id="342" name="Text 21"/>
          <p:cNvSpPr txBox="1"/>
          <p:nvPr/>
        </p:nvSpPr>
        <p:spPr>
          <a:xfrm>
            <a:off x="731519" y="6180257"/>
            <a:ext cx="73152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9FB3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We welcome your questions</a:t>
            </a:r>
          </a:p>
        </p:txBody>
      </p:sp>
      <p:sp>
        <p:nvSpPr>
          <p:cNvPr id="343" name="Text 22"/>
          <p:cNvSpPr txBox="1"/>
          <p:nvPr/>
        </p:nvSpPr>
        <p:spPr>
          <a:xfrm>
            <a:off x="11365992" y="6446564"/>
            <a:ext cx="5486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9FB3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