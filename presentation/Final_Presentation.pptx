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jpeg" ContentType="image/jpeg"/>
  <Override PartName="/ppt/media/image7.jpeg" ContentType="image/jpeg"/>
  <Override PartName="/ppt/media/image8.jpeg" ContentType="image/jpeg"/>
  <Override PartName="/ppt/media/image9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1.png"/><Relationship Id="rId7" Type="http://schemas.openxmlformats.org/officeDocument/2006/relationships/image" Target="../media/image5.jpe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eg"/><Relationship Id="rId3" Type="http://schemas.openxmlformats.org/officeDocument/2006/relationships/image" Target="../media/image7.jpeg"/><Relationship Id="rId4" Type="http://schemas.openxmlformats.org/officeDocument/2006/relationships/image" Target="../media/image8.jpeg"/><Relationship Id="rId5" Type="http://schemas.openxmlformats.org/officeDocument/2006/relationships/image" Target="../media/image9.jpe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21295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" name="Text 7"/>
          <p:cNvSpPr txBox="1"/>
          <p:nvPr/>
        </p:nvSpPr>
        <p:spPr>
          <a:xfrm>
            <a:off x="731519" y="1642680"/>
            <a:ext cx="91440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400">
                <a:solidFill>
                  <a:srgbClr val="7FD1E8"/>
                </a:solidFill>
              </a:defRPr>
            </a:lvl1pPr>
          </a:lstStyle>
          <a:p>
            <a:pPr/>
            <a:r>
              <a:t>AUTOMATED SEISMIC DATA PROCESSING</a:t>
            </a:r>
          </a:p>
        </p:txBody>
      </p:sp>
      <p:sp>
        <p:nvSpPr>
          <p:cNvPr id="22" name="Text 8"/>
          <p:cNvSpPr txBox="1"/>
          <p:nvPr/>
        </p:nvSpPr>
        <p:spPr>
          <a:xfrm>
            <a:off x="731519" y="2160270"/>
            <a:ext cx="10515601" cy="800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First Break Picking</a:t>
            </a:r>
          </a:p>
        </p:txBody>
      </p:sp>
      <p:sp>
        <p:nvSpPr>
          <p:cNvPr id="23" name="Text 9"/>
          <p:cNvSpPr txBox="1"/>
          <p:nvPr/>
        </p:nvSpPr>
        <p:spPr>
          <a:xfrm>
            <a:off x="731519" y="3151703"/>
            <a:ext cx="8686801" cy="463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600">
                <a:solidFill>
                  <a:srgbClr val="C7D9E8"/>
                </a:solidFill>
              </a:defRPr>
            </a:pPr>
            <a:r>
              <a:t>Developing an automated algorithm to detect first-break arrival times in seismic traces</a:t>
            </a:r>
          </a:p>
          <a:p>
            <a:pPr>
              <a:defRPr sz="1600">
                <a:solidFill>
                  <a:srgbClr val="C7D9E8"/>
                </a:solidFill>
              </a:defRPr>
            </a:pPr>
            <a:r>
              <a:t>Team name : Teenage mutant ninja turtles </a:t>
            </a:r>
          </a:p>
        </p:txBody>
      </p:sp>
      <p:sp>
        <p:nvSpPr>
          <p:cNvPr id="24" name="Shape 10"/>
          <p:cNvSpPr/>
          <p:nvPr/>
        </p:nvSpPr>
        <p:spPr>
          <a:xfrm>
            <a:off x="731519" y="3886200"/>
            <a:ext cx="2011680" cy="0"/>
          </a:xfrm>
          <a:prstGeom prst="line">
            <a:avLst/>
          </a:prstGeom>
          <a:ln w="31750">
            <a:solidFill>
              <a:srgbClr val="1C729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" name="Text 11"/>
          <p:cNvSpPr txBox="1"/>
          <p:nvPr/>
        </p:nvSpPr>
        <p:spPr>
          <a:xfrm>
            <a:off x="731519" y="6097709"/>
            <a:ext cx="8229601" cy="3318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100">
                <a:solidFill>
                  <a:srgbClr val="9FB3C8"/>
                </a:solidFill>
              </a:defRPr>
            </a:pPr>
            <a:r>
              <a:t>Project Team</a:t>
            </a:r>
          </a:p>
          <a:p>
            <a:pPr>
              <a:defRPr b="1" sz="1300">
                <a:solidFill>
                  <a:srgbClr val="FFFFFF"/>
                </a:solidFill>
              </a:defRPr>
            </a:pPr>
            <a:r>
              <a:t>Brunswick · Halfmile · Lalor · Sudbury seismic assets</a:t>
            </a:r>
          </a:p>
        </p:txBody>
      </p:sp>
      <p:sp>
        <p:nvSpPr>
          <p:cNvPr id="26" name="Text 12"/>
          <p:cNvSpPr txBox="1"/>
          <p:nvPr/>
        </p:nvSpPr>
        <p:spPr>
          <a:xfrm>
            <a:off x="11365992" y="6446564"/>
            <a:ext cx="54864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9FB3C8"/>
                </a:solidFill>
              </a:defRPr>
            </a:lvl1pPr>
          </a:lstStyle>
          <a:p>
            <a:pPr/>
            <a:r>
              <a:t>01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0"/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" name="Text 1"/>
          <p:cNvSpPr txBox="1"/>
          <p:nvPr/>
        </p:nvSpPr>
        <p:spPr>
          <a:xfrm>
            <a:off x="487680" y="384199"/>
            <a:ext cx="10972801" cy="4508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400">
                <a:solidFill>
                  <a:srgbClr val="FFFFFF"/>
                </a:solidFill>
              </a:defRPr>
            </a:lvl1pPr>
          </a:lstStyle>
          <a:p>
            <a:pPr/>
            <a:r>
              <a:t>Team Contributions</a:t>
            </a:r>
          </a:p>
        </p:txBody>
      </p:sp>
      <p:sp>
        <p:nvSpPr>
          <p:cNvPr id="30" name="Shape 2"/>
          <p:cNvSpPr/>
          <p:nvPr/>
        </p:nvSpPr>
        <p:spPr>
          <a:xfrm>
            <a:off x="756400" y="1402082"/>
            <a:ext cx="1875429" cy="4571997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sx="100000" sy="100000" kx="0" ky="0" algn="b" rotWithShape="0" blurRad="101600" dist="25400" dir="810000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" name="Shape 3"/>
          <p:cNvSpPr/>
          <p:nvPr/>
        </p:nvSpPr>
        <p:spPr>
          <a:xfrm>
            <a:off x="747823" y="1402080"/>
            <a:ext cx="1892583" cy="97537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" name="Text 6"/>
          <p:cNvSpPr txBox="1"/>
          <p:nvPr/>
        </p:nvSpPr>
        <p:spPr>
          <a:xfrm>
            <a:off x="756399" y="3060422"/>
            <a:ext cx="187543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334155"/>
                </a:solidFill>
              </a:defRPr>
            </a:lvl1pPr>
          </a:lstStyle>
          <a:p>
            <a:pPr/>
            <a:r>
              <a:t>Ferman Khankishiyev</a:t>
            </a:r>
          </a:p>
        </p:txBody>
      </p:sp>
      <p:sp>
        <p:nvSpPr>
          <p:cNvPr id="33" name="Text 8"/>
          <p:cNvSpPr txBox="1"/>
          <p:nvPr/>
        </p:nvSpPr>
        <p:spPr>
          <a:xfrm>
            <a:off x="1829296" y="3395393"/>
            <a:ext cx="1584961" cy="13426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 algn="ctr">
              <a:defRPr b="1" sz="1100">
                <a:solidFill>
                  <a:srgbClr val="FFFFFF"/>
                </a:solidFill>
              </a:defRPr>
            </a:pPr>
          </a:p>
        </p:txBody>
      </p:sp>
      <p:sp>
        <p:nvSpPr>
          <p:cNvPr id="34" name="Shape 17"/>
          <p:cNvSpPr/>
          <p:nvPr/>
        </p:nvSpPr>
        <p:spPr>
          <a:xfrm>
            <a:off x="2802116" y="1402084"/>
            <a:ext cx="2017713" cy="4572001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sx="100000" sy="100000" kx="0" ky="0" algn="b" rotWithShape="0" blurRad="101600" dist="25400" dir="810000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" name="Shape 18"/>
          <p:cNvSpPr/>
          <p:nvPr/>
        </p:nvSpPr>
        <p:spPr>
          <a:xfrm>
            <a:off x="2802116" y="1402080"/>
            <a:ext cx="2017713" cy="97537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" name="Text 21"/>
          <p:cNvSpPr txBox="1"/>
          <p:nvPr/>
        </p:nvSpPr>
        <p:spPr>
          <a:xfrm>
            <a:off x="2808525" y="3060422"/>
            <a:ext cx="2004895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334155"/>
                </a:solidFill>
              </a:defRPr>
            </a:lvl1pPr>
          </a:lstStyle>
          <a:p>
            <a:pPr/>
            <a:r>
              <a:t>Bayram Bayramov</a:t>
            </a:r>
          </a:p>
        </p:txBody>
      </p:sp>
      <p:sp>
        <p:nvSpPr>
          <p:cNvPr id="37" name="Shape 32"/>
          <p:cNvSpPr/>
          <p:nvPr/>
        </p:nvSpPr>
        <p:spPr>
          <a:xfrm>
            <a:off x="5027845" y="1402084"/>
            <a:ext cx="2122296" cy="4572001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sx="100000" sy="100000" kx="0" ky="0" algn="b" rotWithShape="0" blurRad="101600" dist="25400" dir="810000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" name="Shape 33"/>
          <p:cNvSpPr/>
          <p:nvPr/>
        </p:nvSpPr>
        <p:spPr>
          <a:xfrm>
            <a:off x="5008429" y="1402080"/>
            <a:ext cx="2161127" cy="97537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" name="Text 36"/>
          <p:cNvSpPr txBox="1"/>
          <p:nvPr/>
        </p:nvSpPr>
        <p:spPr>
          <a:xfrm>
            <a:off x="5011037" y="3060422"/>
            <a:ext cx="2134996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334155"/>
                </a:solidFill>
              </a:defRPr>
            </a:lvl1pPr>
          </a:lstStyle>
          <a:p>
            <a:pPr/>
            <a:r>
              <a:t>Mahmud Ramazanov</a:t>
            </a:r>
          </a:p>
        </p:txBody>
      </p:sp>
      <p:sp>
        <p:nvSpPr>
          <p:cNvPr id="40" name="Text 38"/>
          <p:cNvSpPr txBox="1"/>
          <p:nvPr/>
        </p:nvSpPr>
        <p:spPr>
          <a:xfrm>
            <a:off x="7839441" y="3395393"/>
            <a:ext cx="158496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33% commits</a:t>
            </a:r>
          </a:p>
        </p:txBody>
      </p:sp>
      <p:pic>
        <p:nvPicPr>
          <p:cNvPr id="41" name="Picture 51" descr="Picture 5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32325" y="1615242"/>
            <a:ext cx="1323394" cy="13190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797" y="0"/>
                </a:moveTo>
                <a:cubicBezTo>
                  <a:pt x="4833" y="0"/>
                  <a:pt x="0" y="4836"/>
                  <a:pt x="0" y="10800"/>
                </a:cubicBezTo>
                <a:cubicBezTo>
                  <a:pt x="0" y="16764"/>
                  <a:pt x="4833" y="21600"/>
                  <a:pt x="10797" y="21600"/>
                </a:cubicBezTo>
                <a:cubicBezTo>
                  <a:pt x="16761" y="21600"/>
                  <a:pt x="21600" y="16764"/>
                  <a:pt x="21600" y="10800"/>
                </a:cubicBezTo>
                <a:cubicBezTo>
                  <a:pt x="21600" y="4836"/>
                  <a:pt x="16761" y="0"/>
                  <a:pt x="10797" y="0"/>
                </a:cubicBezTo>
                <a:close/>
              </a:path>
            </a:pathLst>
          </a:custGeom>
          <a:ln w="28575">
            <a:solidFill>
              <a:srgbClr val="8FAADC"/>
            </a:solidFill>
          </a:ln>
        </p:spPr>
      </p:pic>
      <p:pic>
        <p:nvPicPr>
          <p:cNvPr id="42" name="Picture 53" descr="Picture 53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151961" y="1614448"/>
            <a:ext cx="1317857" cy="13208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797" y="0"/>
                </a:moveTo>
                <a:cubicBezTo>
                  <a:pt x="4833" y="0"/>
                  <a:pt x="0" y="4835"/>
                  <a:pt x="0" y="10800"/>
                </a:cubicBezTo>
                <a:cubicBezTo>
                  <a:pt x="0" y="16765"/>
                  <a:pt x="4833" y="21600"/>
                  <a:pt x="10797" y="21600"/>
                </a:cubicBezTo>
                <a:cubicBezTo>
                  <a:pt x="16761" y="21600"/>
                  <a:pt x="21600" y="16765"/>
                  <a:pt x="21600" y="10800"/>
                </a:cubicBezTo>
                <a:cubicBezTo>
                  <a:pt x="21600" y="4835"/>
                  <a:pt x="16761" y="0"/>
                  <a:pt x="10797" y="0"/>
                </a:cubicBezTo>
                <a:close/>
              </a:path>
            </a:pathLst>
          </a:custGeom>
          <a:ln w="28575">
            <a:solidFill>
              <a:srgbClr val="F4B183"/>
            </a:solidFill>
          </a:ln>
        </p:spPr>
      </p:pic>
      <p:pic>
        <p:nvPicPr>
          <p:cNvPr id="43" name="Picture 55" descr="Picture 5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428592" y="1650071"/>
            <a:ext cx="1320801" cy="13208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close/>
              </a:path>
            </a:pathLst>
          </a:custGeom>
          <a:ln w="28575">
            <a:solidFill>
              <a:srgbClr val="A9D18E"/>
            </a:solidFill>
          </a:ln>
        </p:spPr>
      </p:pic>
      <p:sp>
        <p:nvSpPr>
          <p:cNvPr id="44" name="TextBox 10"/>
          <p:cNvSpPr txBox="1"/>
          <p:nvPr/>
        </p:nvSpPr>
        <p:spPr>
          <a:xfrm>
            <a:off x="768362" y="3460184"/>
            <a:ext cx="1851505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400"/>
            </a:lvl1pPr>
          </a:lstStyle>
          <a:p>
            <a:pPr/>
            <a:r>
              <a:t>Team Lead</a:t>
            </a:r>
          </a:p>
        </p:txBody>
      </p:sp>
      <p:sp>
        <p:nvSpPr>
          <p:cNvPr id="45" name="TextBox 11"/>
          <p:cNvSpPr txBox="1"/>
          <p:nvPr/>
        </p:nvSpPr>
        <p:spPr>
          <a:xfrm>
            <a:off x="2808525" y="3460184"/>
            <a:ext cx="2004895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400"/>
            </a:lvl1pPr>
          </a:lstStyle>
          <a:p>
            <a:pPr/>
            <a:r>
              <a:t>Developer Lead</a:t>
            </a:r>
          </a:p>
        </p:txBody>
      </p:sp>
      <p:sp>
        <p:nvSpPr>
          <p:cNvPr id="46" name="TextBox 12"/>
          <p:cNvSpPr txBox="1"/>
          <p:nvPr/>
        </p:nvSpPr>
        <p:spPr>
          <a:xfrm>
            <a:off x="5021494" y="3460184"/>
            <a:ext cx="2134996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400"/>
            </a:lvl1pPr>
          </a:lstStyle>
          <a:p>
            <a:pPr/>
            <a:r>
              <a:t>Developer &amp; Researcher</a:t>
            </a:r>
          </a:p>
        </p:txBody>
      </p:sp>
      <p:sp>
        <p:nvSpPr>
          <p:cNvPr id="47" name="Shape 32"/>
          <p:cNvSpPr/>
          <p:nvPr/>
        </p:nvSpPr>
        <p:spPr>
          <a:xfrm>
            <a:off x="7311851" y="1426469"/>
            <a:ext cx="1838805" cy="4571997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sx="100000" sy="100000" kx="0" ky="0" algn="b" rotWithShape="0" blurRad="101600" dist="25400" dir="810000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pPr algn="ctr">
              <a:defRPr sz="1400"/>
            </a:pPr>
          </a:p>
        </p:txBody>
      </p:sp>
      <p:sp>
        <p:nvSpPr>
          <p:cNvPr id="48" name="Shape 33"/>
          <p:cNvSpPr/>
          <p:nvPr/>
        </p:nvSpPr>
        <p:spPr>
          <a:xfrm>
            <a:off x="7294697" y="1402080"/>
            <a:ext cx="1873113" cy="97537"/>
          </a:xfrm>
          <a:prstGeom prst="rect">
            <a:avLst/>
          </a:prstGeom>
          <a:solidFill>
            <a:schemeClr val="accent2"/>
          </a:solidFill>
          <a:ln w="12700">
            <a:solidFill>
              <a:srgbClr val="10B98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9" name="Metin kutusu 23"/>
          <p:cNvSpPr txBox="1"/>
          <p:nvPr/>
        </p:nvSpPr>
        <p:spPr>
          <a:xfrm>
            <a:off x="7305501" y="3396907"/>
            <a:ext cx="1851505" cy="50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400"/>
            </a:pPr>
            <a:r>
              <a:t>Documentation Lead</a:t>
            </a:r>
          </a:p>
          <a:p>
            <a:pPr algn="ctr">
              <a:defRPr sz="1400"/>
            </a:pPr>
            <a:r>
              <a:t>Developer &amp; Researcher</a:t>
            </a:r>
          </a:p>
        </p:txBody>
      </p:sp>
      <p:pic>
        <p:nvPicPr>
          <p:cNvPr id="50" name="Picture 16" descr="Picture 16"/>
          <p:cNvPicPr>
            <a:picLocks noChangeAspect="1"/>
          </p:cNvPicPr>
          <p:nvPr/>
        </p:nvPicPr>
        <p:blipFill>
          <a:blip r:embed="rId5">
            <a:extLst/>
          </a:blip>
          <a:srcRect l="0" t="0" r="3588" b="28759"/>
          <a:stretch>
            <a:fillRect/>
          </a:stretch>
        </p:blipFill>
        <p:spPr>
          <a:xfrm>
            <a:off x="7570852" y="1628140"/>
            <a:ext cx="1348582" cy="13208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close/>
              </a:path>
            </a:pathLst>
          </a:custGeom>
          <a:ln w="28575">
            <a:solidFill>
              <a:schemeClr val="accent2"/>
            </a:solidFill>
          </a:ln>
        </p:spPr>
      </p:pic>
      <p:sp>
        <p:nvSpPr>
          <p:cNvPr id="51" name="TextBox 15"/>
          <p:cNvSpPr txBox="1"/>
          <p:nvPr/>
        </p:nvSpPr>
        <p:spPr>
          <a:xfrm>
            <a:off x="7305501" y="2988557"/>
            <a:ext cx="1851504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b="1" sz="1400">
                <a:solidFill>
                  <a:srgbClr val="404040"/>
                </a:solidFill>
              </a:defRPr>
            </a:pPr>
            <a:r>
              <a:t>Murad</a:t>
            </a:r>
            <a:r>
              <a:rPr sz="1800"/>
              <a:t> </a:t>
            </a:r>
            <a:r>
              <a:t>Taghizade</a:t>
            </a:r>
          </a:p>
        </p:txBody>
      </p:sp>
      <p:pic>
        <p:nvPicPr>
          <p:cNvPr id="52" name="Picture 17" descr="Picture 17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0933355" y="-22762"/>
            <a:ext cx="1308848" cy="1308848"/>
          </a:xfrm>
          <a:prstGeom prst="rect">
            <a:avLst/>
          </a:prstGeom>
          <a:ln w="12700">
            <a:miter lim="400000"/>
          </a:ln>
        </p:spPr>
      </p:pic>
      <p:sp>
        <p:nvSpPr>
          <p:cNvPr id="53" name="Shape 32"/>
          <p:cNvSpPr/>
          <p:nvPr/>
        </p:nvSpPr>
        <p:spPr>
          <a:xfrm>
            <a:off x="9336275" y="1426467"/>
            <a:ext cx="1838805" cy="4571997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sx="100000" sy="100000" kx="0" ky="0" algn="b" rotWithShape="0" blurRad="101600" dist="25400" dir="810000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pPr algn="ctr">
              <a:defRPr sz="1400"/>
            </a:pPr>
          </a:p>
        </p:txBody>
      </p:sp>
      <p:pic>
        <p:nvPicPr>
          <p:cNvPr id="54" name="WhatsApp Image 2026-09-11 at 14.55.34.jpeg" descr="WhatsApp Image 2026-09-11 at 14.55.34.jpeg"/>
          <p:cNvPicPr>
            <a:picLocks noChangeAspect="1"/>
          </p:cNvPicPr>
          <p:nvPr/>
        </p:nvPicPr>
        <p:blipFill>
          <a:blip r:embed="rId7">
            <a:extLst/>
          </a:blip>
          <a:srcRect l="0" t="2314" r="3" b="24233"/>
          <a:stretch>
            <a:fillRect/>
          </a:stretch>
        </p:blipFill>
        <p:spPr>
          <a:xfrm>
            <a:off x="9581387" y="1650071"/>
            <a:ext cx="1348582" cy="13208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close/>
              </a:path>
            </a:pathLst>
          </a:custGeom>
          <a:ln w="28575">
            <a:solidFill>
              <a:srgbClr val="0D1F46"/>
            </a:solidFill>
          </a:ln>
        </p:spPr>
      </p:pic>
      <p:sp>
        <p:nvSpPr>
          <p:cNvPr id="55" name="TextBox 15"/>
          <p:cNvSpPr txBox="1"/>
          <p:nvPr/>
        </p:nvSpPr>
        <p:spPr>
          <a:xfrm>
            <a:off x="9329925" y="2988557"/>
            <a:ext cx="1851505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400">
                <a:solidFill>
                  <a:srgbClr val="404040"/>
                </a:solidFill>
              </a:defRPr>
            </a:lvl1pPr>
          </a:lstStyle>
          <a:p>
            <a:pPr/>
            <a:r>
              <a:t>Avaz Huseynov</a:t>
            </a:r>
          </a:p>
        </p:txBody>
      </p:sp>
      <p:sp>
        <p:nvSpPr>
          <p:cNvPr id="56" name="Metin kutusu 23"/>
          <p:cNvSpPr txBox="1"/>
          <p:nvPr/>
        </p:nvSpPr>
        <p:spPr>
          <a:xfrm>
            <a:off x="9329925" y="3433385"/>
            <a:ext cx="1851505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400"/>
            </a:lvl1pPr>
          </a:lstStyle>
          <a:p>
            <a:pPr/>
            <a:r>
              <a:t>Developer &amp; Researcher</a:t>
            </a:r>
          </a:p>
        </p:txBody>
      </p:sp>
      <p:sp>
        <p:nvSpPr>
          <p:cNvPr id="57" name="Shape 33"/>
          <p:cNvSpPr/>
          <p:nvPr/>
        </p:nvSpPr>
        <p:spPr>
          <a:xfrm>
            <a:off x="9336275" y="1402084"/>
            <a:ext cx="1838805" cy="97537"/>
          </a:xfrm>
          <a:prstGeom prst="rect">
            <a:avLst/>
          </a:prstGeom>
          <a:solidFill>
            <a:srgbClr val="21295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8" name="CI…"/>
          <p:cNvSpPr txBox="1"/>
          <p:nvPr/>
        </p:nvSpPr>
        <p:spPr>
          <a:xfrm>
            <a:off x="770272" y="4549676"/>
            <a:ext cx="1851504" cy="13842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000"/>
            </a:pPr>
            <a:r>
              <a:t>CI</a:t>
            </a:r>
          </a:p>
          <a:p>
            <a:pPr>
              <a:defRPr sz="1000"/>
            </a:pPr>
            <a:r>
              <a:t>Deploy</a:t>
            </a:r>
          </a:p>
          <a:p>
            <a:pPr>
              <a:defRPr sz="1000"/>
            </a:pPr>
            <a:r>
              <a:t>Model Factory</a:t>
            </a:r>
          </a:p>
          <a:p>
            <a:pPr>
              <a:defRPr sz="1000"/>
            </a:pPr>
            <a:r>
              <a:t>Project Author</a:t>
            </a:r>
          </a:p>
          <a:p>
            <a:pPr>
              <a:defRPr sz="1000"/>
            </a:pPr>
            <a:r>
              <a:t>Individual Models</a:t>
            </a:r>
          </a:p>
          <a:p>
            <a:pPr>
              <a:defRPr sz="1000"/>
            </a:pPr>
            <a:r>
              <a:t>Model Test / Training</a:t>
            </a:r>
          </a:p>
          <a:p>
            <a:pPr>
              <a:defRPr sz="1000"/>
            </a:pPr>
            <a:r>
              <a:t>Unet / LightUnet Implementation</a:t>
            </a:r>
          </a:p>
          <a:p>
            <a:pPr>
              <a:defRPr sz="1000"/>
            </a:pPr>
            <a:r>
              <a:t>Etc</a:t>
            </a:r>
          </a:p>
        </p:txBody>
      </p:sp>
      <p:sp>
        <p:nvSpPr>
          <p:cNvPr id="59" name="Sweep…"/>
          <p:cNvSpPr txBox="1"/>
          <p:nvPr/>
        </p:nvSpPr>
        <p:spPr>
          <a:xfrm>
            <a:off x="2804749" y="4523013"/>
            <a:ext cx="2012447" cy="13842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000"/>
            </a:pPr>
            <a:r>
              <a:t>Sweep</a:t>
            </a:r>
          </a:p>
          <a:p>
            <a:pPr>
              <a:defRPr sz="1000"/>
            </a:pPr>
            <a:r>
              <a:t>Model Pairs</a:t>
            </a:r>
          </a:p>
          <a:p>
            <a:pPr>
              <a:defRPr sz="1000"/>
            </a:pPr>
            <a:r>
              <a:t>Helper Scripts</a:t>
            </a:r>
          </a:p>
          <a:p>
            <a:pPr>
              <a:defRPr sz="1000"/>
            </a:pPr>
            <a:r>
              <a:t>Batch Training Core</a:t>
            </a:r>
          </a:p>
          <a:p>
            <a:pPr>
              <a:defRPr sz="1000"/>
            </a:pPr>
            <a:r>
              <a:t>ONNX / Torchscript</a:t>
            </a:r>
          </a:p>
          <a:p>
            <a:pPr>
              <a:defRPr sz="1000"/>
            </a:pPr>
            <a:r>
              <a:t>Batch Training Recovery</a:t>
            </a:r>
          </a:p>
          <a:p>
            <a:pPr>
              <a:defRPr sz="1000"/>
            </a:pPr>
            <a:r>
              <a:t>Preprocessing Foundation </a:t>
            </a:r>
          </a:p>
          <a:p>
            <a:pPr>
              <a:defRPr sz="1000"/>
            </a:pPr>
            <a:r>
              <a:t>Etc</a:t>
            </a:r>
          </a:p>
        </p:txBody>
      </p:sp>
      <p:sp>
        <p:nvSpPr>
          <p:cNvPr id="60" name="Logger…"/>
          <p:cNvSpPr txBox="1"/>
          <p:nvPr/>
        </p:nvSpPr>
        <p:spPr>
          <a:xfrm>
            <a:off x="9327292" y="4549676"/>
            <a:ext cx="2012447" cy="13842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000"/>
            </a:pPr>
            <a:r>
              <a:t>Logger</a:t>
            </a:r>
          </a:p>
          <a:p>
            <a:pPr>
              <a:defRPr sz="1000"/>
            </a:pPr>
            <a:r>
              <a:t>Evaluation</a:t>
            </a:r>
          </a:p>
          <a:p>
            <a:pPr>
              <a:defRPr sz="1000"/>
            </a:pPr>
            <a:r>
              <a:t>Prediction</a:t>
            </a:r>
          </a:p>
          <a:p>
            <a:pPr>
              <a:defRPr sz="1000"/>
            </a:pPr>
            <a:r>
              <a:t>Visualization</a:t>
            </a:r>
          </a:p>
          <a:p>
            <a:pPr>
              <a:defRPr sz="1000"/>
            </a:pPr>
            <a:r>
              <a:t>Memory Utils</a:t>
            </a:r>
          </a:p>
          <a:p>
            <a:pPr>
              <a:defRPr sz="1000"/>
            </a:pPr>
            <a:r>
              <a:t>Export Model</a:t>
            </a:r>
          </a:p>
          <a:p>
            <a:pPr>
              <a:defRPr sz="1000"/>
            </a:pPr>
            <a:r>
              <a:t>EDA Datasets</a:t>
            </a:r>
          </a:p>
          <a:p>
            <a:pPr>
              <a:defRPr sz="1000"/>
            </a:pPr>
            <a:r>
              <a:t>Etc</a:t>
            </a:r>
          </a:p>
        </p:txBody>
      </p:sp>
      <p:sp>
        <p:nvSpPr>
          <p:cNvPr id="61" name="Metrics…"/>
          <p:cNvSpPr txBox="1"/>
          <p:nvPr/>
        </p:nvSpPr>
        <p:spPr>
          <a:xfrm>
            <a:off x="7305501" y="4523013"/>
            <a:ext cx="2012447" cy="13842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000"/>
            </a:pPr>
            <a:r>
              <a:t>Metrics</a:t>
            </a:r>
          </a:p>
          <a:p>
            <a:pPr>
              <a:defRPr sz="1000"/>
            </a:pPr>
            <a:r>
              <a:t>Train Scripts</a:t>
            </a:r>
          </a:p>
          <a:p>
            <a:pPr>
              <a:defRPr sz="1000"/>
            </a:pPr>
            <a:r>
              <a:t>Loss Functions</a:t>
            </a:r>
          </a:p>
          <a:p>
            <a:pPr>
              <a:defRPr sz="1000"/>
            </a:pPr>
            <a:r>
              <a:t>Documentation</a:t>
            </a:r>
          </a:p>
          <a:p>
            <a:pPr>
              <a:defRPr sz="1000"/>
            </a:pPr>
            <a:r>
              <a:t>Callbacks / Trainer</a:t>
            </a:r>
          </a:p>
          <a:p>
            <a:pPr>
              <a:defRPr sz="1000"/>
            </a:pPr>
            <a:r>
              <a:t>MLFlow / TensorBoard</a:t>
            </a:r>
          </a:p>
          <a:p>
            <a:pPr>
              <a:defRPr sz="1000"/>
            </a:pPr>
            <a:r>
              <a:t>Trainer Advanced Features</a:t>
            </a:r>
          </a:p>
          <a:p>
            <a:pPr>
              <a:defRPr sz="1000"/>
            </a:pPr>
            <a:r>
              <a:t>Etc</a:t>
            </a:r>
          </a:p>
        </p:txBody>
      </p:sp>
      <p:sp>
        <p:nvSpPr>
          <p:cNvPr id="62" name="Docstring…"/>
          <p:cNvSpPr txBox="1"/>
          <p:nvPr/>
        </p:nvSpPr>
        <p:spPr>
          <a:xfrm>
            <a:off x="5021495" y="4523013"/>
            <a:ext cx="2012447" cy="13842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000"/>
            </a:pPr>
            <a:r>
              <a:t>Docstring</a:t>
            </a:r>
          </a:p>
          <a:p>
            <a:pPr>
              <a:defRPr sz="1000"/>
            </a:pPr>
            <a:r>
              <a:t>Readme.md</a:t>
            </a:r>
          </a:p>
          <a:p>
            <a:pPr>
              <a:defRPr sz="1000"/>
            </a:pPr>
            <a:r>
              <a:t>Data Pipeline</a:t>
            </a:r>
          </a:p>
          <a:p>
            <a:pPr>
              <a:defRPr sz="1000"/>
            </a:pPr>
            <a:r>
              <a:t>EDA Datasets</a:t>
            </a:r>
          </a:p>
          <a:p>
            <a:pPr>
              <a:defRPr sz="1000"/>
            </a:pPr>
            <a:r>
              <a:t>Preprocessing</a:t>
            </a:r>
          </a:p>
          <a:p>
            <a:pPr>
              <a:defRPr sz="1000"/>
            </a:pPr>
            <a:r>
              <a:t>Preprocessing Scripts</a:t>
            </a:r>
          </a:p>
          <a:p>
            <a:pPr>
              <a:defRPr sz="1000"/>
            </a:pPr>
            <a:r>
              <a:t>Configuration System / Foundation</a:t>
            </a:r>
          </a:p>
          <a:p>
            <a:pPr>
              <a:defRPr sz="1000"/>
            </a:pPr>
            <a:r>
              <a:t>Etc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 0"/>
          <p:cNvSpPr txBox="1"/>
          <p:nvPr/>
        </p:nvSpPr>
        <p:spPr>
          <a:xfrm>
            <a:off x="548640" y="561647"/>
            <a:ext cx="73152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200">
                <a:solidFill>
                  <a:srgbClr val="1C7293"/>
                </a:solidFill>
              </a:defRPr>
            </a:lvl1pPr>
          </a:lstStyle>
          <a:p>
            <a:pPr/>
            <a:r>
              <a:t>01 · INTRODUCTION</a:t>
            </a:r>
          </a:p>
        </p:txBody>
      </p:sp>
      <p:sp>
        <p:nvSpPr>
          <p:cNvPr id="65" name="Text 1"/>
          <p:cNvSpPr txBox="1"/>
          <p:nvPr/>
        </p:nvSpPr>
        <p:spPr>
          <a:xfrm>
            <a:off x="548639" y="953769"/>
            <a:ext cx="11064242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200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What is a first break, and why does it matter?</a:t>
            </a:r>
          </a:p>
        </p:txBody>
      </p:sp>
      <p:sp>
        <p:nvSpPr>
          <p:cNvPr id="66" name="Text 2"/>
          <p:cNvSpPr txBox="1"/>
          <p:nvPr/>
        </p:nvSpPr>
        <p:spPr>
          <a:xfrm>
            <a:off x="548639" y="2164664"/>
            <a:ext cx="6035042" cy="6998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400">
                <a:solidFill>
                  <a:srgbClr val="1A27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A “first break” is the arrival time of the initial seismic wave at a receiver. This time is the key input for building velocity models, computing static corrections, and depth-time conversions in seismic refraction and tomography studies.</a:t>
            </a:r>
          </a:p>
        </p:txBody>
      </p:sp>
      <p:sp>
        <p:nvSpPr>
          <p:cNvPr id="67" name="Shape 3"/>
          <p:cNvSpPr/>
          <p:nvPr/>
        </p:nvSpPr>
        <p:spPr>
          <a:xfrm>
            <a:off x="548640" y="3520440"/>
            <a:ext cx="457201" cy="457201"/>
          </a:xfrm>
          <a:prstGeom prst="ellipse">
            <a:avLst/>
          </a:prstGeom>
          <a:solidFill>
            <a:srgbClr val="065A8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8" name="Text 4"/>
          <p:cNvSpPr txBox="1"/>
          <p:nvPr/>
        </p:nvSpPr>
        <p:spPr>
          <a:xfrm>
            <a:off x="548640" y="3665659"/>
            <a:ext cx="45720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69" name="Text 5"/>
          <p:cNvSpPr txBox="1"/>
          <p:nvPr/>
        </p:nvSpPr>
        <p:spPr>
          <a:xfrm>
            <a:off x="1188719" y="3540060"/>
            <a:ext cx="539496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21295C"/>
                </a:solidFill>
              </a:defRPr>
            </a:lvl1pPr>
          </a:lstStyle>
          <a:p>
            <a:pPr/>
            <a:r>
              <a:t>Traditional approach</a:t>
            </a:r>
          </a:p>
        </p:txBody>
      </p:sp>
      <p:sp>
        <p:nvSpPr>
          <p:cNvPr id="70" name="Text 6"/>
          <p:cNvSpPr txBox="1"/>
          <p:nvPr/>
        </p:nvSpPr>
        <p:spPr>
          <a:xfrm>
            <a:off x="1188719" y="3960797"/>
            <a:ext cx="5394962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5000"/>
              </a:lnSpc>
              <a:defRPr sz="1100">
                <a:solidFill>
                  <a:srgbClr val="5A6B78"/>
                </a:solidFill>
              </a:defRPr>
            </a:lvl1pPr>
          </a:lstStyle>
          <a:p>
            <a:pPr/>
            <a:r>
              <a:t>Manual picking by geophysicists across millions of traces — a time-consuming process</a:t>
            </a:r>
          </a:p>
        </p:txBody>
      </p:sp>
      <p:sp>
        <p:nvSpPr>
          <p:cNvPr id="71" name="Shape 7"/>
          <p:cNvSpPr/>
          <p:nvPr/>
        </p:nvSpPr>
        <p:spPr>
          <a:xfrm>
            <a:off x="548640" y="4416552"/>
            <a:ext cx="457201" cy="457201"/>
          </a:xfrm>
          <a:prstGeom prst="ellipse">
            <a:avLst/>
          </a:prstGeom>
          <a:solidFill>
            <a:srgbClr val="1C729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2" name="Text 8"/>
          <p:cNvSpPr txBox="1"/>
          <p:nvPr/>
        </p:nvSpPr>
        <p:spPr>
          <a:xfrm>
            <a:off x="548640" y="4561771"/>
            <a:ext cx="45720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73" name="Text 9"/>
          <p:cNvSpPr txBox="1"/>
          <p:nvPr/>
        </p:nvSpPr>
        <p:spPr>
          <a:xfrm>
            <a:off x="1188719" y="4436172"/>
            <a:ext cx="539496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21295C"/>
                </a:solidFill>
              </a:defRPr>
            </a:lvl1pPr>
          </a:lstStyle>
          <a:p>
            <a:pPr/>
            <a:r>
              <a:t>Objective</a:t>
            </a:r>
          </a:p>
        </p:txBody>
      </p:sp>
      <p:sp>
        <p:nvSpPr>
          <p:cNvPr id="74" name="Text 10"/>
          <p:cNvSpPr txBox="1"/>
          <p:nvPr/>
        </p:nvSpPr>
        <p:spPr>
          <a:xfrm>
            <a:off x="1188719" y="4764289"/>
            <a:ext cx="5394962" cy="319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5000"/>
              </a:lnSpc>
              <a:defRPr sz="1100">
                <a:solidFill>
                  <a:srgbClr val="5A6B78"/>
                </a:solidFill>
              </a:defRPr>
            </a:lvl1pPr>
          </a:lstStyle>
          <a:p>
            <a:pPr/>
            <a:r>
              <a:t>Build an automated method that performs reliably across varying assets and signal-to-noise ratios</a:t>
            </a:r>
          </a:p>
        </p:txBody>
      </p:sp>
      <p:sp>
        <p:nvSpPr>
          <p:cNvPr id="75" name="Shape 11"/>
          <p:cNvSpPr/>
          <p:nvPr/>
        </p:nvSpPr>
        <p:spPr>
          <a:xfrm>
            <a:off x="548640" y="5312664"/>
            <a:ext cx="457201" cy="457201"/>
          </a:xfrm>
          <a:prstGeom prst="ellipse">
            <a:avLst/>
          </a:prstGeom>
          <a:solidFill>
            <a:srgbClr val="21295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6" name="Text 12"/>
          <p:cNvSpPr txBox="1"/>
          <p:nvPr/>
        </p:nvSpPr>
        <p:spPr>
          <a:xfrm>
            <a:off x="548640" y="5457883"/>
            <a:ext cx="45720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77" name="Text 13"/>
          <p:cNvSpPr txBox="1"/>
          <p:nvPr/>
        </p:nvSpPr>
        <p:spPr>
          <a:xfrm>
            <a:off x="1188719" y="5332284"/>
            <a:ext cx="539496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21295C"/>
                </a:solidFill>
              </a:defRPr>
            </a:lvl1pPr>
          </a:lstStyle>
          <a:p>
            <a:pPr/>
            <a:r>
              <a:t>Input data</a:t>
            </a:r>
          </a:p>
        </p:txBody>
      </p:sp>
      <p:sp>
        <p:nvSpPr>
          <p:cNvPr id="78" name="Text 14"/>
          <p:cNvSpPr txBox="1"/>
          <p:nvPr/>
        </p:nvSpPr>
        <p:spPr>
          <a:xfrm>
            <a:off x="1188719" y="5753021"/>
            <a:ext cx="5394962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5000"/>
              </a:lnSpc>
              <a:defRPr sz="1100">
                <a:solidFill>
                  <a:srgbClr val="5A6B78"/>
                </a:solidFill>
              </a:defRPr>
            </a:lvl1pPr>
          </a:lstStyle>
          <a:p>
            <a:pPr/>
            <a:r>
              <a:t>Traces from 4 real seismic assets + expert-labeled first-break times (SPARE1)</a:t>
            </a:r>
          </a:p>
        </p:txBody>
      </p:sp>
      <p:sp>
        <p:nvSpPr>
          <p:cNvPr id="79" name="Text 30"/>
          <p:cNvSpPr txBox="1"/>
          <p:nvPr/>
        </p:nvSpPr>
        <p:spPr>
          <a:xfrm>
            <a:off x="6947557" y="2282124"/>
            <a:ext cx="438912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C0392B"/>
                </a:solidFill>
              </a:defRPr>
            </a:lvl1pPr>
          </a:lstStyle>
          <a:p>
            <a:pPr/>
            <a:r>
              <a:t>First-break line</a:t>
            </a:r>
          </a:p>
        </p:txBody>
      </p:sp>
      <p:sp>
        <p:nvSpPr>
          <p:cNvPr id="80" name="Text 31"/>
          <p:cNvSpPr txBox="1"/>
          <p:nvPr/>
        </p:nvSpPr>
        <p:spPr>
          <a:xfrm>
            <a:off x="11378692" y="6446564"/>
            <a:ext cx="54864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5A6B78"/>
                </a:solidFill>
              </a:defRPr>
            </a:lvl1pPr>
          </a:lstStyle>
          <a:p>
            <a:pPr/>
            <a:r>
              <a:t>02</a:t>
            </a:r>
          </a:p>
        </p:txBody>
      </p:sp>
      <p:pic>
        <p:nvPicPr>
          <p:cNvPr id="81" name="pryektsekil.svg" descr="pryektsekil.sv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766559" y="2710312"/>
            <a:ext cx="5162458" cy="29038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 0"/>
          <p:cNvSpPr txBox="1"/>
          <p:nvPr/>
        </p:nvSpPr>
        <p:spPr>
          <a:xfrm>
            <a:off x="548640" y="561647"/>
            <a:ext cx="73152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200">
                <a:solidFill>
                  <a:srgbClr val="1C7293"/>
                </a:solidFill>
              </a:defRPr>
            </a:lvl1pPr>
          </a:lstStyle>
          <a:p>
            <a:pPr/>
            <a:r>
              <a:t>02 · BUSINESS NEED</a:t>
            </a:r>
          </a:p>
        </p:txBody>
      </p:sp>
      <p:sp>
        <p:nvSpPr>
          <p:cNvPr id="84" name="Text 1"/>
          <p:cNvSpPr txBox="1"/>
          <p:nvPr/>
        </p:nvSpPr>
        <p:spPr>
          <a:xfrm>
            <a:off x="548639" y="953769"/>
            <a:ext cx="11064242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200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Why does this need to be automated?</a:t>
            </a:r>
          </a:p>
        </p:txBody>
      </p:sp>
      <p:sp>
        <p:nvSpPr>
          <p:cNvPr id="85" name="Shape 2"/>
          <p:cNvSpPr/>
          <p:nvPr/>
        </p:nvSpPr>
        <p:spPr>
          <a:xfrm>
            <a:off x="548640" y="187452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EAF4F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6" name="Shape 3"/>
          <p:cNvSpPr/>
          <p:nvPr/>
        </p:nvSpPr>
        <p:spPr>
          <a:xfrm>
            <a:off x="777240" y="2148839"/>
            <a:ext cx="548641" cy="548641"/>
          </a:xfrm>
          <a:prstGeom prst="ellipse">
            <a:avLst/>
          </a:prstGeom>
          <a:solidFill>
            <a:srgbClr val="065A8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7" name="Text 4"/>
          <p:cNvSpPr txBox="1"/>
          <p:nvPr/>
        </p:nvSpPr>
        <p:spPr>
          <a:xfrm>
            <a:off x="777240" y="2326322"/>
            <a:ext cx="548641" cy="1936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⏱</a:t>
            </a:r>
          </a:p>
        </p:txBody>
      </p:sp>
      <p:sp>
        <p:nvSpPr>
          <p:cNvPr id="88" name="Text 5"/>
          <p:cNvSpPr txBox="1"/>
          <p:nvPr/>
        </p:nvSpPr>
        <p:spPr>
          <a:xfrm>
            <a:off x="749808" y="2992821"/>
            <a:ext cx="2240280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21295C"/>
                </a:solidFill>
              </a:defRPr>
            </a:lvl1pPr>
          </a:lstStyle>
          <a:p>
            <a:pPr/>
            <a:r>
              <a:t>Time cost</a:t>
            </a:r>
          </a:p>
        </p:txBody>
      </p:sp>
      <p:sp>
        <p:nvSpPr>
          <p:cNvPr id="89" name="Text 6"/>
          <p:cNvSpPr txBox="1"/>
          <p:nvPr/>
        </p:nvSpPr>
        <p:spPr>
          <a:xfrm>
            <a:off x="749808" y="4038592"/>
            <a:ext cx="2240280" cy="518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100">
                <a:solidFill>
                  <a:srgbClr val="5A6B78"/>
                </a:solidFill>
              </a:defRPr>
            </a:lvl1pPr>
          </a:lstStyle>
          <a:p>
            <a:pPr/>
            <a:r>
              <a:t>Manually picking millions of traces takes weeks to months and delays project timelines.</a:t>
            </a:r>
          </a:p>
        </p:txBody>
      </p:sp>
      <p:sp>
        <p:nvSpPr>
          <p:cNvPr id="90" name="Shape 7"/>
          <p:cNvSpPr/>
          <p:nvPr/>
        </p:nvSpPr>
        <p:spPr>
          <a:xfrm>
            <a:off x="3410711" y="1874520"/>
            <a:ext cx="2606041" cy="3566160"/>
          </a:xfrm>
          <a:prstGeom prst="roundRect">
            <a:avLst>
              <a:gd name="adj" fmla="val 2807"/>
            </a:avLst>
          </a:prstGeom>
          <a:solidFill>
            <a:srgbClr val="065A8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1" name="Shape 8"/>
          <p:cNvSpPr/>
          <p:nvPr/>
        </p:nvSpPr>
        <p:spPr>
          <a:xfrm>
            <a:off x="3639311" y="2148839"/>
            <a:ext cx="548641" cy="54864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2" name="Text 9"/>
          <p:cNvSpPr txBox="1"/>
          <p:nvPr/>
        </p:nvSpPr>
        <p:spPr>
          <a:xfrm>
            <a:off x="3639311" y="2329882"/>
            <a:ext cx="54864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≈</a:t>
            </a:r>
          </a:p>
        </p:txBody>
      </p:sp>
      <p:sp>
        <p:nvSpPr>
          <p:cNvPr id="93" name="Text 10"/>
          <p:cNvSpPr txBox="1"/>
          <p:nvPr/>
        </p:nvSpPr>
        <p:spPr>
          <a:xfrm>
            <a:off x="3639311" y="2298789"/>
            <a:ext cx="548641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000">
                <a:solidFill>
                  <a:srgbClr val="065A82"/>
                </a:solidFill>
              </a:defRPr>
            </a:lvl1pPr>
          </a:lstStyle>
          <a:p>
            <a:pPr/>
            <a:r>
              <a:t>≈</a:t>
            </a:r>
          </a:p>
        </p:txBody>
      </p:sp>
      <p:sp>
        <p:nvSpPr>
          <p:cNvPr id="94" name="Text 11"/>
          <p:cNvSpPr txBox="1"/>
          <p:nvPr/>
        </p:nvSpPr>
        <p:spPr>
          <a:xfrm>
            <a:off x="3611879" y="2992821"/>
            <a:ext cx="224028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Subjectivity</a:t>
            </a:r>
          </a:p>
        </p:txBody>
      </p:sp>
      <p:sp>
        <p:nvSpPr>
          <p:cNvPr id="95" name="Text 12"/>
          <p:cNvSpPr txBox="1"/>
          <p:nvPr/>
        </p:nvSpPr>
        <p:spPr>
          <a:xfrm>
            <a:off x="3611879" y="4038592"/>
            <a:ext cx="2240281" cy="518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100">
                <a:solidFill>
                  <a:srgbClr val="D9E9F0"/>
                </a:solidFill>
              </a:defRPr>
            </a:lvl1pPr>
          </a:lstStyle>
          <a:p>
            <a:pPr/>
            <a:r>
              <a:t>Inconsistency between different pickers' results affects the quality of the velocity model.</a:t>
            </a:r>
          </a:p>
        </p:txBody>
      </p:sp>
      <p:sp>
        <p:nvSpPr>
          <p:cNvPr id="96" name="Shape 13"/>
          <p:cNvSpPr/>
          <p:nvPr/>
        </p:nvSpPr>
        <p:spPr>
          <a:xfrm>
            <a:off x="6272784" y="1874520"/>
            <a:ext cx="2606041" cy="3566160"/>
          </a:xfrm>
          <a:prstGeom prst="roundRect">
            <a:avLst>
              <a:gd name="adj" fmla="val 2807"/>
            </a:avLst>
          </a:prstGeom>
          <a:solidFill>
            <a:srgbClr val="EAF4F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7" name="Shape 14"/>
          <p:cNvSpPr/>
          <p:nvPr/>
        </p:nvSpPr>
        <p:spPr>
          <a:xfrm>
            <a:off x="6501384" y="2148839"/>
            <a:ext cx="548641" cy="548641"/>
          </a:xfrm>
          <a:prstGeom prst="ellipse">
            <a:avLst/>
          </a:prstGeom>
          <a:solidFill>
            <a:srgbClr val="065A8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8" name="Text 15"/>
          <p:cNvSpPr txBox="1"/>
          <p:nvPr/>
        </p:nvSpPr>
        <p:spPr>
          <a:xfrm>
            <a:off x="6501384" y="2329882"/>
            <a:ext cx="54864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↗</a:t>
            </a:r>
          </a:p>
        </p:txBody>
      </p:sp>
      <p:sp>
        <p:nvSpPr>
          <p:cNvPr id="99" name="Text 16"/>
          <p:cNvSpPr txBox="1"/>
          <p:nvPr/>
        </p:nvSpPr>
        <p:spPr>
          <a:xfrm>
            <a:off x="6473952" y="2992821"/>
            <a:ext cx="224028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21295C"/>
                </a:solidFill>
              </a:defRPr>
            </a:lvl1pPr>
          </a:lstStyle>
          <a:p>
            <a:pPr/>
            <a:r>
              <a:t>Scalability</a:t>
            </a:r>
          </a:p>
        </p:txBody>
      </p:sp>
      <p:sp>
        <p:nvSpPr>
          <p:cNvPr id="100" name="Text 17"/>
          <p:cNvSpPr txBox="1"/>
          <p:nvPr/>
        </p:nvSpPr>
        <p:spPr>
          <a:xfrm>
            <a:off x="6473952" y="4038592"/>
            <a:ext cx="2240281" cy="518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100">
                <a:solidFill>
                  <a:srgbClr val="5A6B78"/>
                </a:solidFill>
              </a:defRPr>
            </a:lvl1pPr>
          </a:lstStyle>
          <a:p>
            <a:pPr/>
            <a:r>
              <a:t>Manual effort doesn't scale as new assets (Brunswick, Halfmile, Lalor, Sudbury) are added.</a:t>
            </a:r>
          </a:p>
        </p:txBody>
      </p:sp>
      <p:sp>
        <p:nvSpPr>
          <p:cNvPr id="101" name="Shape 18"/>
          <p:cNvSpPr/>
          <p:nvPr/>
        </p:nvSpPr>
        <p:spPr>
          <a:xfrm>
            <a:off x="9134856" y="1874520"/>
            <a:ext cx="2606041" cy="3566160"/>
          </a:xfrm>
          <a:prstGeom prst="roundRect">
            <a:avLst>
              <a:gd name="adj" fmla="val 2807"/>
            </a:avLst>
          </a:prstGeom>
          <a:solidFill>
            <a:srgbClr val="065A8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2" name="Shape 19"/>
          <p:cNvSpPr/>
          <p:nvPr/>
        </p:nvSpPr>
        <p:spPr>
          <a:xfrm>
            <a:off x="9363456" y="2148839"/>
            <a:ext cx="548641" cy="54864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3" name="Text 20"/>
          <p:cNvSpPr txBox="1"/>
          <p:nvPr/>
        </p:nvSpPr>
        <p:spPr>
          <a:xfrm>
            <a:off x="9363456" y="2329882"/>
            <a:ext cx="54864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$</a:t>
            </a:r>
          </a:p>
        </p:txBody>
      </p:sp>
      <p:sp>
        <p:nvSpPr>
          <p:cNvPr id="104" name="Text 21"/>
          <p:cNvSpPr txBox="1"/>
          <p:nvPr/>
        </p:nvSpPr>
        <p:spPr>
          <a:xfrm>
            <a:off x="9363456" y="2298789"/>
            <a:ext cx="548641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000">
                <a:solidFill>
                  <a:srgbClr val="065A82"/>
                </a:solidFill>
              </a:defRPr>
            </a:lvl1pPr>
          </a:lstStyle>
          <a:p>
            <a:pPr/>
            <a:r>
              <a:t>$</a:t>
            </a:r>
          </a:p>
        </p:txBody>
      </p:sp>
      <p:sp>
        <p:nvSpPr>
          <p:cNvPr id="105" name="Text 22"/>
          <p:cNvSpPr txBox="1"/>
          <p:nvPr/>
        </p:nvSpPr>
        <p:spPr>
          <a:xfrm>
            <a:off x="9336023" y="2992821"/>
            <a:ext cx="224028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Value chain</a:t>
            </a:r>
          </a:p>
        </p:txBody>
      </p:sp>
      <p:sp>
        <p:nvSpPr>
          <p:cNvPr id="106" name="Text 23"/>
          <p:cNvSpPr txBox="1"/>
          <p:nvPr/>
        </p:nvSpPr>
        <p:spPr>
          <a:xfrm>
            <a:off x="9336023" y="4038592"/>
            <a:ext cx="2240281" cy="518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100">
                <a:solidFill>
                  <a:srgbClr val="D9E9F0"/>
                </a:solidFill>
              </a:defRPr>
            </a:lvl1pPr>
          </a:lstStyle>
          <a:p>
            <a:pPr/>
            <a:r>
              <a:t>Faster, more accurate first breaks lead to faster statics and faster exploration decisions.</a:t>
            </a:r>
          </a:p>
        </p:txBody>
      </p:sp>
      <p:sp>
        <p:nvSpPr>
          <p:cNvPr id="107" name="Text 24"/>
          <p:cNvSpPr txBox="1"/>
          <p:nvPr/>
        </p:nvSpPr>
        <p:spPr>
          <a:xfrm>
            <a:off x="11365992" y="6446564"/>
            <a:ext cx="54864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5A6B78"/>
                </a:solidFill>
              </a:defRPr>
            </a:lvl1pPr>
          </a:lstStyle>
          <a:p>
            <a:pPr/>
            <a:r>
              <a:t>03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 0"/>
          <p:cNvSpPr txBox="1"/>
          <p:nvPr/>
        </p:nvSpPr>
        <p:spPr>
          <a:xfrm>
            <a:off x="548640" y="561647"/>
            <a:ext cx="73152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200">
                <a:solidFill>
                  <a:srgbClr val="1C7293"/>
                </a:solidFill>
              </a:defRPr>
            </a:lvl1pPr>
          </a:lstStyle>
          <a:p>
            <a:pPr/>
            <a:r>
              <a:t>03 · DATA</a:t>
            </a:r>
          </a:p>
        </p:txBody>
      </p:sp>
      <p:sp>
        <p:nvSpPr>
          <p:cNvPr id="110" name="Text 1"/>
          <p:cNvSpPr txBox="1"/>
          <p:nvPr/>
        </p:nvSpPr>
        <p:spPr>
          <a:xfrm>
            <a:off x="548639" y="953769"/>
            <a:ext cx="11064242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200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Overview of the four real seismic assets</a:t>
            </a:r>
          </a:p>
        </p:txBody>
      </p:sp>
      <p:sp>
        <p:nvSpPr>
          <p:cNvPr id="111" name="Shape 2"/>
          <p:cNvSpPr/>
          <p:nvPr/>
        </p:nvSpPr>
        <p:spPr>
          <a:xfrm>
            <a:off x="548640" y="1783079"/>
            <a:ext cx="2651761" cy="1554481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5875">
            <a:solidFill>
              <a:srgbClr val="D5E4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2" name="Shape 3"/>
          <p:cNvSpPr/>
          <p:nvPr/>
        </p:nvSpPr>
        <p:spPr>
          <a:xfrm>
            <a:off x="548640" y="1783079"/>
            <a:ext cx="82297" cy="1554481"/>
          </a:xfrm>
          <a:prstGeom prst="rect">
            <a:avLst/>
          </a:prstGeom>
          <a:solidFill>
            <a:srgbClr val="065A8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3" name="Text 4"/>
          <p:cNvSpPr txBox="1"/>
          <p:nvPr/>
        </p:nvSpPr>
        <p:spPr>
          <a:xfrm>
            <a:off x="777240" y="2009901"/>
            <a:ext cx="228600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Brunswick</a:t>
            </a:r>
          </a:p>
        </p:txBody>
      </p:sp>
      <p:sp>
        <p:nvSpPr>
          <p:cNvPr id="114" name="Text 5"/>
          <p:cNvSpPr txBox="1"/>
          <p:nvPr/>
        </p:nvSpPr>
        <p:spPr>
          <a:xfrm>
            <a:off x="777240" y="2627554"/>
            <a:ext cx="2286001" cy="3227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5000"/>
              </a:lnSpc>
              <a:defRPr sz="1000">
                <a:solidFill>
                  <a:srgbClr val="5A6B78"/>
                </a:solidFill>
              </a:defRPr>
            </a:lvl1pPr>
          </a:lstStyle>
          <a:p>
            <a:pPr/>
            <a:r>
              <a:t>3D seismic, HDF5 (Brunswick_orig_1500ms_V2)</a:t>
            </a:r>
          </a:p>
        </p:txBody>
      </p:sp>
      <p:sp>
        <p:nvSpPr>
          <p:cNvPr id="115" name="Shape 6"/>
          <p:cNvSpPr/>
          <p:nvPr/>
        </p:nvSpPr>
        <p:spPr>
          <a:xfrm>
            <a:off x="3429000" y="1783079"/>
            <a:ext cx="2651761" cy="1554481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5875">
            <a:solidFill>
              <a:srgbClr val="D5E4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6" name="Shape 7"/>
          <p:cNvSpPr/>
          <p:nvPr/>
        </p:nvSpPr>
        <p:spPr>
          <a:xfrm>
            <a:off x="3429000" y="1783079"/>
            <a:ext cx="82297" cy="1554481"/>
          </a:xfrm>
          <a:prstGeom prst="rect">
            <a:avLst/>
          </a:prstGeom>
          <a:solidFill>
            <a:srgbClr val="1C729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7" name="Text 8"/>
          <p:cNvSpPr txBox="1"/>
          <p:nvPr/>
        </p:nvSpPr>
        <p:spPr>
          <a:xfrm>
            <a:off x="3657600" y="2009901"/>
            <a:ext cx="228600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Halfmile</a:t>
            </a:r>
          </a:p>
        </p:txBody>
      </p:sp>
      <p:sp>
        <p:nvSpPr>
          <p:cNvPr id="118" name="Text 9"/>
          <p:cNvSpPr txBox="1"/>
          <p:nvPr/>
        </p:nvSpPr>
        <p:spPr>
          <a:xfrm>
            <a:off x="3657600" y="2627554"/>
            <a:ext cx="2286000" cy="3227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5000"/>
              </a:lnSpc>
              <a:defRPr sz="1000">
                <a:solidFill>
                  <a:srgbClr val="5A6B78"/>
                </a:solidFill>
              </a:defRPr>
            </a:lvl1pPr>
          </a:lstStyle>
          <a:p>
            <a:pPr/>
            <a:r>
              <a:t>3D seismic, with added geometry (add_geom_sorted)</a:t>
            </a:r>
          </a:p>
        </p:txBody>
      </p:sp>
      <p:sp>
        <p:nvSpPr>
          <p:cNvPr id="119" name="Shape 10"/>
          <p:cNvSpPr/>
          <p:nvPr/>
        </p:nvSpPr>
        <p:spPr>
          <a:xfrm>
            <a:off x="6309359" y="1783079"/>
            <a:ext cx="2651761" cy="1554481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5875">
            <a:solidFill>
              <a:srgbClr val="D5E4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0" name="Shape 11"/>
          <p:cNvSpPr/>
          <p:nvPr/>
        </p:nvSpPr>
        <p:spPr>
          <a:xfrm>
            <a:off x="6309359" y="1783079"/>
            <a:ext cx="82297" cy="1554481"/>
          </a:xfrm>
          <a:prstGeom prst="rect">
            <a:avLst/>
          </a:prstGeom>
          <a:solidFill>
            <a:srgbClr val="21295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1" name="Text 12"/>
          <p:cNvSpPr txBox="1"/>
          <p:nvPr/>
        </p:nvSpPr>
        <p:spPr>
          <a:xfrm>
            <a:off x="6537959" y="2009901"/>
            <a:ext cx="228600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Lalor</a:t>
            </a:r>
          </a:p>
        </p:txBody>
      </p:sp>
      <p:sp>
        <p:nvSpPr>
          <p:cNvPr id="122" name="Text 13"/>
          <p:cNvSpPr txBox="1"/>
          <p:nvPr/>
        </p:nvSpPr>
        <p:spPr>
          <a:xfrm>
            <a:off x="6537959" y="2627554"/>
            <a:ext cx="2286001" cy="3227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5000"/>
              </a:lnSpc>
              <a:defRPr sz="1000">
                <a:solidFill>
                  <a:srgbClr val="5A6B78"/>
                </a:solidFill>
              </a:defRPr>
            </a:lvl1pPr>
          </a:lstStyle>
          <a:p>
            <a:pPr/>
            <a:r>
              <a:t>3D seismic, raw z-values (raw_z_1500ms_norp_geom)</a:t>
            </a:r>
          </a:p>
        </p:txBody>
      </p:sp>
      <p:sp>
        <p:nvSpPr>
          <p:cNvPr id="123" name="Shape 14"/>
          <p:cNvSpPr/>
          <p:nvPr/>
        </p:nvSpPr>
        <p:spPr>
          <a:xfrm>
            <a:off x="9189719" y="1783079"/>
            <a:ext cx="2651761" cy="1554481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5875">
            <a:solidFill>
              <a:srgbClr val="D5E4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4" name="Shape 15"/>
          <p:cNvSpPr/>
          <p:nvPr/>
        </p:nvSpPr>
        <p:spPr>
          <a:xfrm>
            <a:off x="9189719" y="1783079"/>
            <a:ext cx="82297" cy="1554481"/>
          </a:xfrm>
          <a:prstGeom prst="rect">
            <a:avLst/>
          </a:prstGeom>
          <a:solidFill>
            <a:srgbClr val="3E7CA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5" name="Text 16"/>
          <p:cNvSpPr txBox="1"/>
          <p:nvPr/>
        </p:nvSpPr>
        <p:spPr>
          <a:xfrm>
            <a:off x="9418319" y="2009901"/>
            <a:ext cx="228600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Sudbury</a:t>
            </a:r>
          </a:p>
        </p:txBody>
      </p:sp>
      <p:sp>
        <p:nvSpPr>
          <p:cNvPr id="126" name="Text 17"/>
          <p:cNvSpPr txBox="1"/>
          <p:nvPr/>
        </p:nvSpPr>
        <p:spPr>
          <a:xfrm>
            <a:off x="9418319" y="2720384"/>
            <a:ext cx="22860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5000"/>
              </a:lnSpc>
              <a:defRPr sz="1000">
                <a:solidFill>
                  <a:srgbClr val="5A6B78"/>
                </a:solidFill>
              </a:defRPr>
            </a:lvl1pPr>
          </a:lstStyle>
          <a:p>
            <a:pPr/>
            <a:r>
              <a:t>3D seismic, pre-processed</a:t>
            </a:r>
          </a:p>
        </p:txBody>
      </p:sp>
      <p:sp>
        <p:nvSpPr>
          <p:cNvPr id="127" name="Text 18"/>
          <p:cNvSpPr txBox="1"/>
          <p:nvPr/>
        </p:nvSpPr>
        <p:spPr>
          <a:xfrm>
            <a:off x="548640" y="3688519"/>
            <a:ext cx="731520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1C7293"/>
                </a:solidFill>
              </a:defRPr>
            </a:lvl1pPr>
          </a:lstStyle>
          <a:p>
            <a:pPr/>
            <a:r>
              <a:t>HDF5 structure  ·  /TRACE_DATA/DEFAULT</a:t>
            </a:r>
          </a:p>
        </p:txBody>
      </p:sp>
      <p:sp>
        <p:nvSpPr>
          <p:cNvPr id="128" name="Shape 19"/>
          <p:cNvSpPr/>
          <p:nvPr/>
        </p:nvSpPr>
        <p:spPr>
          <a:xfrm>
            <a:off x="548640" y="4023359"/>
            <a:ext cx="3657601" cy="1097281"/>
          </a:xfrm>
          <a:prstGeom prst="roundRect">
            <a:avLst>
              <a:gd name="adj" fmla="val 5000"/>
            </a:avLst>
          </a:prstGeom>
          <a:solidFill>
            <a:srgbClr val="EAF4F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9" name="Text 20"/>
          <p:cNvSpPr txBox="1"/>
          <p:nvPr/>
        </p:nvSpPr>
        <p:spPr>
          <a:xfrm>
            <a:off x="713231" y="4214675"/>
            <a:ext cx="3328417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065A82"/>
                </a:solidFill>
              </a:defRPr>
            </a:lvl1pPr>
          </a:lstStyle>
          <a:p>
            <a:pPr/>
            <a:r>
              <a:t>data_array</a:t>
            </a:r>
          </a:p>
        </p:txBody>
      </p:sp>
      <p:sp>
        <p:nvSpPr>
          <p:cNvPr id="130" name="Text 21"/>
          <p:cNvSpPr txBox="1"/>
          <p:nvPr/>
        </p:nvSpPr>
        <p:spPr>
          <a:xfrm>
            <a:off x="713231" y="4709204"/>
            <a:ext cx="3328417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5000"/>
              </a:lnSpc>
              <a:defRPr sz="1000">
                <a:solidFill>
                  <a:srgbClr val="5A6B78"/>
                </a:solidFill>
              </a:defRPr>
            </a:lvl1pPr>
          </a:lstStyle>
          <a:p>
            <a:pPr/>
            <a:r>
              <a:t>2D array of all recorded traces (trace count × sample count)</a:t>
            </a:r>
          </a:p>
        </p:txBody>
      </p:sp>
      <p:sp>
        <p:nvSpPr>
          <p:cNvPr id="131" name="Shape 22"/>
          <p:cNvSpPr/>
          <p:nvPr/>
        </p:nvSpPr>
        <p:spPr>
          <a:xfrm>
            <a:off x="4297679" y="4023359"/>
            <a:ext cx="3657601" cy="1097281"/>
          </a:xfrm>
          <a:prstGeom prst="roundRect">
            <a:avLst>
              <a:gd name="adj" fmla="val 5000"/>
            </a:avLst>
          </a:prstGeom>
          <a:solidFill>
            <a:srgbClr val="EAF4F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2" name="Text 23"/>
          <p:cNvSpPr txBox="1"/>
          <p:nvPr/>
        </p:nvSpPr>
        <p:spPr>
          <a:xfrm>
            <a:off x="4462271" y="4214675"/>
            <a:ext cx="3328416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065A82"/>
                </a:solidFill>
              </a:defRPr>
            </a:lvl1pPr>
          </a:lstStyle>
          <a:p>
            <a:pPr/>
            <a:r>
              <a:t>SOURCE_X / Y / HT</a:t>
            </a:r>
          </a:p>
        </p:txBody>
      </p:sp>
      <p:sp>
        <p:nvSpPr>
          <p:cNvPr id="133" name="Text 24"/>
          <p:cNvSpPr txBox="1"/>
          <p:nvPr/>
        </p:nvSpPr>
        <p:spPr>
          <a:xfrm>
            <a:off x="4462271" y="4709204"/>
            <a:ext cx="3328416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5000"/>
              </a:lnSpc>
              <a:defRPr sz="1000">
                <a:solidFill>
                  <a:srgbClr val="5A6B78"/>
                </a:solidFill>
              </a:defRPr>
            </a:lvl1pPr>
          </a:lstStyle>
          <a:p>
            <a:pPr/>
            <a:r>
              <a:t>Shot (source) coordinates and elevation</a:t>
            </a:r>
          </a:p>
        </p:txBody>
      </p:sp>
      <p:sp>
        <p:nvSpPr>
          <p:cNvPr id="134" name="Shape 25"/>
          <p:cNvSpPr/>
          <p:nvPr/>
        </p:nvSpPr>
        <p:spPr>
          <a:xfrm>
            <a:off x="8046719" y="4023359"/>
            <a:ext cx="3657601" cy="1097281"/>
          </a:xfrm>
          <a:prstGeom prst="roundRect">
            <a:avLst>
              <a:gd name="adj" fmla="val 5000"/>
            </a:avLst>
          </a:prstGeom>
          <a:solidFill>
            <a:srgbClr val="EAF4F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5" name="Text 26"/>
          <p:cNvSpPr txBox="1"/>
          <p:nvPr/>
        </p:nvSpPr>
        <p:spPr>
          <a:xfrm>
            <a:off x="8211311" y="4214675"/>
            <a:ext cx="3328417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065A82"/>
                </a:solidFill>
              </a:defRPr>
            </a:lvl1pPr>
          </a:lstStyle>
          <a:p>
            <a:pPr/>
            <a:r>
              <a:t>REC_X / Y / HT / PEG</a:t>
            </a:r>
          </a:p>
        </p:txBody>
      </p:sp>
      <p:sp>
        <p:nvSpPr>
          <p:cNvPr id="136" name="Text 27"/>
          <p:cNvSpPr txBox="1"/>
          <p:nvPr/>
        </p:nvSpPr>
        <p:spPr>
          <a:xfrm>
            <a:off x="8211311" y="4709204"/>
            <a:ext cx="3328417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5000"/>
              </a:lnSpc>
              <a:defRPr sz="1000">
                <a:solidFill>
                  <a:srgbClr val="5A6B78"/>
                </a:solidFill>
              </a:defRPr>
            </a:lvl1pPr>
          </a:lstStyle>
          <a:p>
            <a:pPr/>
            <a:r>
              <a:t>Receiver coordinates and identifiers</a:t>
            </a:r>
          </a:p>
        </p:txBody>
      </p:sp>
      <p:sp>
        <p:nvSpPr>
          <p:cNvPr id="137" name="Shape 28"/>
          <p:cNvSpPr/>
          <p:nvPr/>
        </p:nvSpPr>
        <p:spPr>
          <a:xfrm>
            <a:off x="548640" y="5257800"/>
            <a:ext cx="3657601" cy="1097281"/>
          </a:xfrm>
          <a:prstGeom prst="roundRect">
            <a:avLst>
              <a:gd name="adj" fmla="val 5000"/>
            </a:avLst>
          </a:prstGeom>
          <a:solidFill>
            <a:srgbClr val="EAF4F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8" name="Text 29"/>
          <p:cNvSpPr txBox="1"/>
          <p:nvPr/>
        </p:nvSpPr>
        <p:spPr>
          <a:xfrm>
            <a:off x="713231" y="5449115"/>
            <a:ext cx="3328417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065A82"/>
                </a:solidFill>
              </a:defRPr>
            </a:lvl1pPr>
          </a:lstStyle>
          <a:p>
            <a:pPr/>
            <a:r>
              <a:t>SAMP_RATE / SAMP_NUM</a:t>
            </a:r>
          </a:p>
        </p:txBody>
      </p:sp>
      <p:sp>
        <p:nvSpPr>
          <p:cNvPr id="139" name="Text 30"/>
          <p:cNvSpPr txBox="1"/>
          <p:nvPr/>
        </p:nvSpPr>
        <p:spPr>
          <a:xfrm>
            <a:off x="713231" y="5943644"/>
            <a:ext cx="3328417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5000"/>
              </a:lnSpc>
              <a:defRPr sz="1000">
                <a:solidFill>
                  <a:srgbClr val="5A6B78"/>
                </a:solidFill>
              </a:defRPr>
            </a:lvl1pPr>
          </a:lstStyle>
          <a:p>
            <a:pPr/>
            <a:r>
              <a:t>Sampling rate (μs) and sample count</a:t>
            </a:r>
          </a:p>
        </p:txBody>
      </p:sp>
      <p:sp>
        <p:nvSpPr>
          <p:cNvPr id="140" name="Shape 31"/>
          <p:cNvSpPr/>
          <p:nvPr/>
        </p:nvSpPr>
        <p:spPr>
          <a:xfrm>
            <a:off x="4297679" y="5257800"/>
            <a:ext cx="3657601" cy="1097281"/>
          </a:xfrm>
          <a:prstGeom prst="roundRect">
            <a:avLst>
              <a:gd name="adj" fmla="val 5000"/>
            </a:avLst>
          </a:prstGeom>
          <a:solidFill>
            <a:srgbClr val="EAF4F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1" name="Text 32"/>
          <p:cNvSpPr txBox="1"/>
          <p:nvPr/>
        </p:nvSpPr>
        <p:spPr>
          <a:xfrm>
            <a:off x="4462271" y="5449115"/>
            <a:ext cx="3328416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065A82"/>
                </a:solidFill>
              </a:defRPr>
            </a:lvl1pPr>
          </a:lstStyle>
          <a:p>
            <a:pPr/>
            <a:r>
              <a:t>SPARE1</a:t>
            </a:r>
          </a:p>
        </p:txBody>
      </p:sp>
      <p:sp>
        <p:nvSpPr>
          <p:cNvPr id="142" name="Text 33"/>
          <p:cNvSpPr txBox="1"/>
          <p:nvPr/>
        </p:nvSpPr>
        <p:spPr>
          <a:xfrm>
            <a:off x="4462271" y="5943644"/>
            <a:ext cx="3328416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5000"/>
              </a:lnSpc>
              <a:defRPr sz="1000">
                <a:solidFill>
                  <a:srgbClr val="5A6B78"/>
                </a:solidFill>
              </a:defRPr>
            </a:lvl1pPr>
          </a:lstStyle>
          <a:p>
            <a:pPr/>
            <a:r>
              <a:t>First-break time (ms); 0 or -1 = unlabeled</a:t>
            </a:r>
          </a:p>
        </p:txBody>
      </p:sp>
      <p:sp>
        <p:nvSpPr>
          <p:cNvPr id="143" name="Shape 34"/>
          <p:cNvSpPr/>
          <p:nvPr/>
        </p:nvSpPr>
        <p:spPr>
          <a:xfrm>
            <a:off x="8046719" y="5257800"/>
            <a:ext cx="3657601" cy="1097281"/>
          </a:xfrm>
          <a:prstGeom prst="roundRect">
            <a:avLst>
              <a:gd name="adj" fmla="val 5000"/>
            </a:avLst>
          </a:prstGeom>
          <a:solidFill>
            <a:srgbClr val="EAF4F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4" name="Text 35"/>
          <p:cNvSpPr txBox="1"/>
          <p:nvPr/>
        </p:nvSpPr>
        <p:spPr>
          <a:xfrm>
            <a:off x="8211311" y="5449115"/>
            <a:ext cx="3328417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065A82"/>
                </a:solidFill>
              </a:defRPr>
            </a:lvl1pPr>
          </a:lstStyle>
          <a:p>
            <a:pPr/>
            <a:r>
              <a:t>SHOTID / SHOT_PEG</a:t>
            </a:r>
          </a:p>
        </p:txBody>
      </p:sp>
      <p:sp>
        <p:nvSpPr>
          <p:cNvPr id="145" name="Text 36"/>
          <p:cNvSpPr txBox="1"/>
          <p:nvPr/>
        </p:nvSpPr>
        <p:spPr>
          <a:xfrm>
            <a:off x="8211311" y="5943644"/>
            <a:ext cx="3328417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5000"/>
              </a:lnSpc>
              <a:defRPr sz="1000">
                <a:solidFill>
                  <a:srgbClr val="5A6B78"/>
                </a:solidFill>
              </a:defRPr>
            </a:lvl1pPr>
          </a:lstStyle>
          <a:p>
            <a:pPr/>
            <a:r>
              <a:t>Shot identifiers — used to split gathers</a:t>
            </a:r>
          </a:p>
        </p:txBody>
      </p:sp>
      <p:sp>
        <p:nvSpPr>
          <p:cNvPr id="146" name="Text 37"/>
          <p:cNvSpPr txBox="1"/>
          <p:nvPr/>
        </p:nvSpPr>
        <p:spPr>
          <a:xfrm>
            <a:off x="11365992" y="6446564"/>
            <a:ext cx="54864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5A6B78"/>
                </a:solidFill>
              </a:defRPr>
            </a:lvl1pPr>
          </a:lstStyle>
          <a:p>
            <a:pPr/>
            <a:r>
              <a:t>04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Halfmile.png" descr="Halfmil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9777" y="625778"/>
            <a:ext cx="5893896" cy="2557729"/>
          </a:xfrm>
          <a:prstGeom prst="rect">
            <a:avLst/>
          </a:prstGeom>
          <a:ln w="12700">
            <a:miter lim="400000"/>
          </a:ln>
        </p:spPr>
      </p:pic>
      <p:pic>
        <p:nvPicPr>
          <p:cNvPr id="149" name="Lalor.png" descr="Lalor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459220" y="661788"/>
            <a:ext cx="5727937" cy="24857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50" name="LalorSpare1.png" descr="LalorSpare1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388854" y="3645986"/>
            <a:ext cx="5732121" cy="2119441"/>
          </a:xfrm>
          <a:prstGeom prst="rect">
            <a:avLst/>
          </a:prstGeom>
          <a:ln w="12700">
            <a:miter lim="400000"/>
          </a:ln>
        </p:spPr>
      </p:pic>
      <p:pic>
        <p:nvPicPr>
          <p:cNvPr id="151" name="Spare1Halfmile.png" descr="Spare1Halfmile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-21998" y="3609590"/>
            <a:ext cx="6217446" cy="2298888"/>
          </a:xfrm>
          <a:prstGeom prst="rect">
            <a:avLst/>
          </a:prstGeom>
          <a:ln w="12700">
            <a:miter lim="400000"/>
          </a:ln>
        </p:spPr>
      </p:pic>
      <p:sp>
        <p:nvSpPr>
          <p:cNvPr id="152" name="Halfmile Dataset and Distribution"/>
          <p:cNvSpPr txBox="1"/>
          <p:nvPr/>
        </p:nvSpPr>
        <p:spPr>
          <a:xfrm>
            <a:off x="1508931" y="96135"/>
            <a:ext cx="3482353" cy="6151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Halfmile Dataset and Distribution </a:t>
            </a:r>
          </a:p>
        </p:txBody>
      </p:sp>
      <p:sp>
        <p:nvSpPr>
          <p:cNvPr id="153" name="Lalor Dataset and Distribution"/>
          <p:cNvSpPr txBox="1"/>
          <p:nvPr/>
        </p:nvSpPr>
        <p:spPr>
          <a:xfrm>
            <a:off x="7501609" y="96135"/>
            <a:ext cx="3116459" cy="6151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Lalor Dataset and Distribution</a:t>
            </a:r>
          </a:p>
        </p:txBody>
      </p:sp>
      <p:sp>
        <p:nvSpPr>
          <p:cNvPr id="154" name="Line"/>
          <p:cNvSpPr/>
          <p:nvPr/>
        </p:nvSpPr>
        <p:spPr>
          <a:xfrm flipV="1">
            <a:off x="6327334" y="401086"/>
            <a:ext cx="1" cy="6445202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155" name="Text 37"/>
          <p:cNvSpPr txBox="1"/>
          <p:nvPr/>
        </p:nvSpPr>
        <p:spPr>
          <a:xfrm>
            <a:off x="11365992" y="6446564"/>
            <a:ext cx="54864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5A6B78"/>
                </a:solidFill>
              </a:defRPr>
            </a:lvl1pPr>
          </a:lstStyle>
          <a:p>
            <a:pPr/>
            <a:r>
              <a:t>05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Text 0"/>
          <p:cNvSpPr txBox="1"/>
          <p:nvPr/>
        </p:nvSpPr>
        <p:spPr>
          <a:xfrm>
            <a:off x="548640" y="561647"/>
            <a:ext cx="73152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200">
                <a:solidFill>
                  <a:srgbClr val="1C7293"/>
                </a:solidFill>
              </a:defRPr>
            </a:lvl1pPr>
          </a:lstStyle>
          <a:p>
            <a:pPr/>
            <a:r>
              <a:t>04 · METHODOLOGY</a:t>
            </a:r>
          </a:p>
        </p:txBody>
      </p:sp>
      <p:sp>
        <p:nvSpPr>
          <p:cNvPr id="158" name="Text 1"/>
          <p:cNvSpPr txBox="1"/>
          <p:nvPr/>
        </p:nvSpPr>
        <p:spPr>
          <a:xfrm>
            <a:off x="548639" y="953769"/>
            <a:ext cx="11064242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200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Data preparation: splitting into gathers</a:t>
            </a:r>
          </a:p>
        </p:txBody>
      </p:sp>
      <p:sp>
        <p:nvSpPr>
          <p:cNvPr id="159" name="Text 2"/>
          <p:cNvSpPr txBox="1"/>
          <p:nvPr/>
        </p:nvSpPr>
        <p:spPr>
          <a:xfrm>
            <a:off x="548639" y="1832882"/>
            <a:ext cx="11064242" cy="4033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300">
                <a:solidFill>
                  <a:srgbClr val="1A2733"/>
                </a:solidFill>
              </a:defRPr>
            </a:lvl1pPr>
          </a:lstStyle>
          <a:p>
            <a:pPr/>
            <a:r>
              <a:t>Each HDF5 file stores all traces sequentially. To reconstruct a real 2D seismic image (shot gather), traces are grouped by receiver/source coordinates (SOURCE_X/Y, REC_X/Y) and SHOTID, then each gather is paired with its first-break labels (SPARE1).</a:t>
            </a:r>
          </a:p>
        </p:txBody>
      </p:sp>
      <p:sp>
        <p:nvSpPr>
          <p:cNvPr id="160" name="Shape 3"/>
          <p:cNvSpPr/>
          <p:nvPr/>
        </p:nvSpPr>
        <p:spPr>
          <a:xfrm>
            <a:off x="548640" y="2743200"/>
            <a:ext cx="2121408" cy="2651761"/>
          </a:xfrm>
          <a:prstGeom prst="roundRect">
            <a:avLst>
              <a:gd name="adj" fmla="val 3448"/>
            </a:avLst>
          </a:prstGeom>
          <a:solidFill>
            <a:srgbClr val="065A8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1" name="Text 4"/>
          <p:cNvSpPr txBox="1"/>
          <p:nvPr/>
        </p:nvSpPr>
        <p:spPr>
          <a:xfrm>
            <a:off x="713231" y="2971292"/>
            <a:ext cx="914401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200">
                <a:solidFill>
                  <a:srgbClr val="BFE0EE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162" name="Text 5"/>
          <p:cNvSpPr txBox="1"/>
          <p:nvPr/>
        </p:nvSpPr>
        <p:spPr>
          <a:xfrm>
            <a:off x="713232" y="3688519"/>
            <a:ext cx="1792224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Load raw data</a:t>
            </a:r>
          </a:p>
        </p:txBody>
      </p:sp>
      <p:sp>
        <p:nvSpPr>
          <p:cNvPr id="163" name="Text 6"/>
          <p:cNvSpPr txBox="1"/>
          <p:nvPr/>
        </p:nvSpPr>
        <p:spPr>
          <a:xfrm>
            <a:off x="713232" y="4544367"/>
            <a:ext cx="1792224" cy="3295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000">
                <a:solidFill>
                  <a:srgbClr val="DCEBF2"/>
                </a:solidFill>
              </a:defRPr>
            </a:lvl1pPr>
          </a:lstStyle>
          <a:p>
            <a:pPr/>
            <a:r>
              <a:t>Load data_array and metadata fields with h5py</a:t>
            </a:r>
          </a:p>
        </p:txBody>
      </p:sp>
      <p:sp>
        <p:nvSpPr>
          <p:cNvPr id="164" name="Shape 7"/>
          <p:cNvSpPr/>
          <p:nvPr/>
        </p:nvSpPr>
        <p:spPr>
          <a:xfrm>
            <a:off x="2798064" y="2743200"/>
            <a:ext cx="2121409" cy="2651761"/>
          </a:xfrm>
          <a:prstGeom prst="roundRect">
            <a:avLst>
              <a:gd name="adj" fmla="val 3448"/>
            </a:avLst>
          </a:prstGeom>
          <a:solidFill>
            <a:srgbClr val="1C729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5" name="Text 8"/>
          <p:cNvSpPr txBox="1"/>
          <p:nvPr/>
        </p:nvSpPr>
        <p:spPr>
          <a:xfrm>
            <a:off x="2962655" y="2971292"/>
            <a:ext cx="914401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200">
                <a:solidFill>
                  <a:srgbClr val="BFE0EE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66" name="Text 9"/>
          <p:cNvSpPr txBox="1"/>
          <p:nvPr/>
        </p:nvSpPr>
        <p:spPr>
          <a:xfrm>
            <a:off x="2962655" y="3688519"/>
            <a:ext cx="1792225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Split into gathers</a:t>
            </a:r>
          </a:p>
        </p:txBody>
      </p:sp>
      <p:sp>
        <p:nvSpPr>
          <p:cNvPr id="167" name="Text 10"/>
          <p:cNvSpPr txBox="1"/>
          <p:nvPr/>
        </p:nvSpPr>
        <p:spPr>
          <a:xfrm>
            <a:off x="2962655" y="4544367"/>
            <a:ext cx="1792225" cy="3295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000">
                <a:solidFill>
                  <a:srgbClr val="DCEBF2"/>
                </a:solidFill>
              </a:defRPr>
            </a:lvl1pPr>
          </a:lstStyle>
          <a:p>
            <a:pPr/>
            <a:r>
              <a:t>Group traces by SHOTID / coordinates</a:t>
            </a:r>
          </a:p>
        </p:txBody>
      </p:sp>
      <p:sp>
        <p:nvSpPr>
          <p:cNvPr id="168" name="Shape 11"/>
          <p:cNvSpPr/>
          <p:nvPr/>
        </p:nvSpPr>
        <p:spPr>
          <a:xfrm>
            <a:off x="5047488" y="2743200"/>
            <a:ext cx="2121408" cy="2651761"/>
          </a:xfrm>
          <a:prstGeom prst="roundRect">
            <a:avLst>
              <a:gd name="adj" fmla="val 3448"/>
            </a:avLst>
          </a:prstGeom>
          <a:solidFill>
            <a:srgbClr val="065A8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9" name="Text 12"/>
          <p:cNvSpPr txBox="1"/>
          <p:nvPr/>
        </p:nvSpPr>
        <p:spPr>
          <a:xfrm>
            <a:off x="5212079" y="2971292"/>
            <a:ext cx="914401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200">
                <a:solidFill>
                  <a:srgbClr val="BFE0EE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170" name="Text 13"/>
          <p:cNvSpPr txBox="1"/>
          <p:nvPr/>
        </p:nvSpPr>
        <p:spPr>
          <a:xfrm>
            <a:off x="5212079" y="3688519"/>
            <a:ext cx="1792225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Align labels</a:t>
            </a:r>
          </a:p>
        </p:txBody>
      </p:sp>
      <p:sp>
        <p:nvSpPr>
          <p:cNvPr id="171" name="Text 14"/>
          <p:cNvSpPr txBox="1"/>
          <p:nvPr/>
        </p:nvSpPr>
        <p:spPr>
          <a:xfrm>
            <a:off x="5212079" y="4544367"/>
            <a:ext cx="1792225" cy="3295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000">
                <a:solidFill>
                  <a:srgbClr val="DCEBF2"/>
                </a:solidFill>
              </a:defRPr>
            </a:lvl1pPr>
          </a:lstStyle>
          <a:p>
            <a:pPr/>
            <a:r>
              <a:t>High-millisecond picks are marked invalid.</a:t>
            </a:r>
          </a:p>
        </p:txBody>
      </p:sp>
      <p:sp>
        <p:nvSpPr>
          <p:cNvPr id="172" name="Shape 15"/>
          <p:cNvSpPr/>
          <p:nvPr/>
        </p:nvSpPr>
        <p:spPr>
          <a:xfrm>
            <a:off x="7296911" y="2743200"/>
            <a:ext cx="2121409" cy="2651761"/>
          </a:xfrm>
          <a:prstGeom prst="roundRect">
            <a:avLst>
              <a:gd name="adj" fmla="val 3448"/>
            </a:avLst>
          </a:prstGeom>
          <a:solidFill>
            <a:srgbClr val="1C729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3" name="Text 16"/>
          <p:cNvSpPr txBox="1"/>
          <p:nvPr/>
        </p:nvSpPr>
        <p:spPr>
          <a:xfrm>
            <a:off x="7461504" y="2971292"/>
            <a:ext cx="914401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200">
                <a:solidFill>
                  <a:srgbClr val="BFE0EE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174" name="Text 17"/>
          <p:cNvSpPr txBox="1"/>
          <p:nvPr/>
        </p:nvSpPr>
        <p:spPr>
          <a:xfrm>
            <a:off x="7461504" y="3688519"/>
            <a:ext cx="1792225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Clean &amp; filter</a:t>
            </a:r>
          </a:p>
        </p:txBody>
      </p:sp>
      <p:sp>
        <p:nvSpPr>
          <p:cNvPr id="175" name="Text 18"/>
          <p:cNvSpPr txBox="1"/>
          <p:nvPr/>
        </p:nvSpPr>
        <p:spPr>
          <a:xfrm>
            <a:off x="7461504" y="4364387"/>
            <a:ext cx="1792225" cy="3295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000">
                <a:solidFill>
                  <a:srgbClr val="DCEBF2"/>
                </a:solidFill>
              </a:defRPr>
            </a:lvl1pPr>
          </a:lstStyle>
          <a:p>
            <a:pPr/>
            <a:r>
              <a:t>Detect unlabeled traces for masking in the loss function</a:t>
            </a:r>
          </a:p>
        </p:txBody>
      </p:sp>
      <p:sp>
        <p:nvSpPr>
          <p:cNvPr id="176" name="Shape 19"/>
          <p:cNvSpPr/>
          <p:nvPr/>
        </p:nvSpPr>
        <p:spPr>
          <a:xfrm>
            <a:off x="9546335" y="2743200"/>
            <a:ext cx="2121409" cy="2651761"/>
          </a:xfrm>
          <a:prstGeom prst="roundRect">
            <a:avLst>
              <a:gd name="adj" fmla="val 3448"/>
            </a:avLst>
          </a:prstGeom>
          <a:solidFill>
            <a:srgbClr val="065A8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7" name="Text 20"/>
          <p:cNvSpPr txBox="1"/>
          <p:nvPr/>
        </p:nvSpPr>
        <p:spPr>
          <a:xfrm>
            <a:off x="9710928" y="2971292"/>
            <a:ext cx="914401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200">
                <a:solidFill>
                  <a:srgbClr val="BFE0EE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178" name="Text 21"/>
          <p:cNvSpPr txBox="1"/>
          <p:nvPr/>
        </p:nvSpPr>
        <p:spPr>
          <a:xfrm>
            <a:off x="9710928" y="3688519"/>
            <a:ext cx="1792225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Train / Val / Test split</a:t>
            </a:r>
          </a:p>
        </p:txBody>
      </p:sp>
      <p:sp>
        <p:nvSpPr>
          <p:cNvPr id="179" name="Text 22"/>
          <p:cNvSpPr txBox="1"/>
          <p:nvPr/>
        </p:nvSpPr>
        <p:spPr>
          <a:xfrm>
            <a:off x="9710927" y="4437712"/>
            <a:ext cx="1792225" cy="3295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20000"/>
              </a:lnSpc>
              <a:defRPr sz="1000">
                <a:solidFill>
                  <a:srgbClr val="DCEBF2"/>
                </a:solidFill>
              </a:defRPr>
            </a:pPr>
            <a:r>
              <a:t>We only implement in 80/10/10 </a:t>
            </a:r>
          </a:p>
          <a:p>
            <a:pPr>
              <a:lnSpc>
                <a:spcPct val="120000"/>
              </a:lnSpc>
              <a:defRPr sz="1000">
                <a:solidFill>
                  <a:srgbClr val="DCEBF2"/>
                </a:solidFill>
              </a:defRPr>
            </a:pPr>
            <a:r>
              <a:t>Format.</a:t>
            </a:r>
          </a:p>
        </p:txBody>
      </p:sp>
      <p:sp>
        <p:nvSpPr>
          <p:cNvPr id="180" name="Text 23"/>
          <p:cNvSpPr txBox="1"/>
          <p:nvPr/>
        </p:nvSpPr>
        <p:spPr>
          <a:xfrm>
            <a:off x="11365992" y="6446564"/>
            <a:ext cx="54864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5A6B78"/>
                </a:solidFill>
              </a:defRPr>
            </a:lvl1pPr>
          </a:lstStyle>
          <a:p>
            <a:pPr/>
            <a:r>
              <a:t>06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Text 0"/>
          <p:cNvSpPr txBox="1"/>
          <p:nvPr/>
        </p:nvSpPr>
        <p:spPr>
          <a:xfrm>
            <a:off x="548640" y="561647"/>
            <a:ext cx="73152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200">
                <a:solidFill>
                  <a:srgbClr val="1C7293"/>
                </a:solidFill>
              </a:defRPr>
            </a:lvl1pPr>
          </a:lstStyle>
          <a:p>
            <a:pPr/>
            <a:r>
              <a:t>08 · SOFTWARE</a:t>
            </a:r>
          </a:p>
        </p:txBody>
      </p:sp>
      <p:sp>
        <p:nvSpPr>
          <p:cNvPr id="183" name="Text 1"/>
          <p:cNvSpPr txBox="1"/>
          <p:nvPr/>
        </p:nvSpPr>
        <p:spPr>
          <a:xfrm>
            <a:off x="421987" y="1017396"/>
            <a:ext cx="11064241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200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Software and tooling stack</a:t>
            </a:r>
          </a:p>
        </p:txBody>
      </p:sp>
      <p:sp>
        <p:nvSpPr>
          <p:cNvPr id="184" name="Shape 2"/>
          <p:cNvSpPr/>
          <p:nvPr/>
        </p:nvSpPr>
        <p:spPr>
          <a:xfrm>
            <a:off x="548639" y="1791515"/>
            <a:ext cx="3520442" cy="3840481"/>
          </a:xfrm>
          <a:prstGeom prst="roundRect">
            <a:avLst>
              <a:gd name="adj" fmla="val 2078"/>
            </a:avLst>
          </a:prstGeom>
          <a:solidFill>
            <a:srgbClr val="EAF4F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5" name="Text 3"/>
          <p:cNvSpPr txBox="1"/>
          <p:nvPr/>
        </p:nvSpPr>
        <p:spPr>
          <a:xfrm>
            <a:off x="822960" y="2113279"/>
            <a:ext cx="297180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Data processing</a:t>
            </a:r>
          </a:p>
        </p:txBody>
      </p:sp>
      <p:sp>
        <p:nvSpPr>
          <p:cNvPr id="186" name="Shape 4"/>
          <p:cNvSpPr/>
          <p:nvPr/>
        </p:nvSpPr>
        <p:spPr>
          <a:xfrm>
            <a:off x="822959" y="2696082"/>
            <a:ext cx="82297" cy="82297"/>
          </a:xfrm>
          <a:prstGeom prst="ellipse">
            <a:avLst/>
          </a:prstGeom>
          <a:solidFill>
            <a:srgbClr val="1C729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7" name="Text 5"/>
          <p:cNvSpPr txBox="1"/>
          <p:nvPr/>
        </p:nvSpPr>
        <p:spPr>
          <a:xfrm>
            <a:off x="1051559" y="2658798"/>
            <a:ext cx="27432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A2733"/>
                </a:solidFill>
              </a:defRPr>
            </a:lvl1pPr>
          </a:lstStyle>
          <a:p>
            <a:pPr/>
            <a:r>
              <a:t>Python, h5py</a:t>
            </a:r>
          </a:p>
        </p:txBody>
      </p:sp>
      <p:sp>
        <p:nvSpPr>
          <p:cNvPr id="188" name="Shape 6"/>
          <p:cNvSpPr/>
          <p:nvPr/>
        </p:nvSpPr>
        <p:spPr>
          <a:xfrm>
            <a:off x="822959" y="3157166"/>
            <a:ext cx="82297" cy="82297"/>
          </a:xfrm>
          <a:prstGeom prst="ellipse">
            <a:avLst/>
          </a:prstGeom>
          <a:solidFill>
            <a:srgbClr val="1C729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9" name="Text 7"/>
          <p:cNvSpPr txBox="1"/>
          <p:nvPr/>
        </p:nvSpPr>
        <p:spPr>
          <a:xfrm>
            <a:off x="1051559" y="3119882"/>
            <a:ext cx="27432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A2733"/>
                </a:solidFill>
              </a:defRPr>
            </a:lvl1pPr>
          </a:lstStyle>
          <a:p>
            <a:pPr/>
            <a:r>
              <a:t>NumPy / Pandas</a:t>
            </a:r>
          </a:p>
        </p:txBody>
      </p:sp>
      <p:sp>
        <p:nvSpPr>
          <p:cNvPr id="190" name="Shape 8"/>
          <p:cNvSpPr/>
          <p:nvPr/>
        </p:nvSpPr>
        <p:spPr>
          <a:xfrm>
            <a:off x="822959" y="3558665"/>
            <a:ext cx="82297" cy="82297"/>
          </a:xfrm>
          <a:prstGeom prst="ellipse">
            <a:avLst/>
          </a:prstGeom>
          <a:solidFill>
            <a:srgbClr val="1C729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1" name="Text 9"/>
          <p:cNvSpPr txBox="1"/>
          <p:nvPr/>
        </p:nvSpPr>
        <p:spPr>
          <a:xfrm>
            <a:off x="1051560" y="3521380"/>
            <a:ext cx="27432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A2733"/>
                </a:solidFill>
              </a:defRPr>
            </a:lvl1pPr>
          </a:lstStyle>
          <a:p>
            <a:pPr/>
            <a:r>
              <a:t>SciPy (signal filtering)</a:t>
            </a:r>
          </a:p>
        </p:txBody>
      </p:sp>
      <p:sp>
        <p:nvSpPr>
          <p:cNvPr id="192" name="Shape 10"/>
          <p:cNvSpPr/>
          <p:nvPr/>
        </p:nvSpPr>
        <p:spPr>
          <a:xfrm>
            <a:off x="4343399" y="1784495"/>
            <a:ext cx="3520442" cy="3840481"/>
          </a:xfrm>
          <a:prstGeom prst="roundRect">
            <a:avLst>
              <a:gd name="adj" fmla="val 2078"/>
            </a:avLst>
          </a:prstGeom>
          <a:solidFill>
            <a:srgbClr val="065A8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3" name="Text 11"/>
          <p:cNvSpPr txBox="1"/>
          <p:nvPr/>
        </p:nvSpPr>
        <p:spPr>
          <a:xfrm>
            <a:off x="4617720" y="2233929"/>
            <a:ext cx="297180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Modeling</a:t>
            </a:r>
          </a:p>
        </p:txBody>
      </p:sp>
      <p:sp>
        <p:nvSpPr>
          <p:cNvPr id="194" name="Shape 12"/>
          <p:cNvSpPr/>
          <p:nvPr/>
        </p:nvSpPr>
        <p:spPr>
          <a:xfrm>
            <a:off x="4617720" y="2803230"/>
            <a:ext cx="82297" cy="82297"/>
          </a:xfrm>
          <a:prstGeom prst="ellipse">
            <a:avLst/>
          </a:prstGeom>
          <a:solidFill>
            <a:srgbClr val="7FD1E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5" name="Text 13"/>
          <p:cNvSpPr txBox="1"/>
          <p:nvPr/>
        </p:nvSpPr>
        <p:spPr>
          <a:xfrm>
            <a:off x="4846320" y="2765946"/>
            <a:ext cx="27432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E4EFF4"/>
                </a:solidFill>
              </a:defRPr>
            </a:lvl1pPr>
          </a:lstStyle>
          <a:p>
            <a:pPr/>
            <a:r>
              <a:t>PyTorch / TensorFlow</a:t>
            </a:r>
          </a:p>
        </p:txBody>
      </p:sp>
      <p:sp>
        <p:nvSpPr>
          <p:cNvPr id="196" name="Shape 14"/>
          <p:cNvSpPr/>
          <p:nvPr/>
        </p:nvSpPr>
        <p:spPr>
          <a:xfrm>
            <a:off x="4617720" y="3221862"/>
            <a:ext cx="82297" cy="82297"/>
          </a:xfrm>
          <a:prstGeom prst="ellipse">
            <a:avLst/>
          </a:prstGeom>
          <a:solidFill>
            <a:srgbClr val="7FD1E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7" name="Text 15"/>
          <p:cNvSpPr txBox="1"/>
          <p:nvPr/>
        </p:nvSpPr>
        <p:spPr>
          <a:xfrm>
            <a:off x="4846320" y="3184578"/>
            <a:ext cx="27432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E4EFF4"/>
                </a:solidFill>
              </a:defRPr>
            </a:lvl1pPr>
          </a:lstStyle>
          <a:p>
            <a:pPr/>
            <a:r>
              <a:t>U-Net architecture</a:t>
            </a:r>
          </a:p>
        </p:txBody>
      </p:sp>
      <p:sp>
        <p:nvSpPr>
          <p:cNvPr id="198" name="Shape 16"/>
          <p:cNvSpPr/>
          <p:nvPr/>
        </p:nvSpPr>
        <p:spPr>
          <a:xfrm>
            <a:off x="4617720" y="3558665"/>
            <a:ext cx="82297" cy="82297"/>
          </a:xfrm>
          <a:prstGeom prst="ellipse">
            <a:avLst/>
          </a:prstGeom>
          <a:solidFill>
            <a:srgbClr val="7FD1E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9" name="Text 17"/>
          <p:cNvSpPr txBox="1"/>
          <p:nvPr/>
        </p:nvSpPr>
        <p:spPr>
          <a:xfrm>
            <a:off x="4846320" y="3521380"/>
            <a:ext cx="27432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E4EFF4"/>
                </a:solidFill>
              </a:defRPr>
            </a:lvl1pPr>
          </a:lstStyle>
          <a:p>
            <a:pPr/>
            <a:r>
              <a:t>Light / Tiny / Nano U-Net variants</a:t>
            </a:r>
          </a:p>
        </p:txBody>
      </p:sp>
      <p:sp>
        <p:nvSpPr>
          <p:cNvPr id="200" name="Shape 18"/>
          <p:cNvSpPr/>
          <p:nvPr/>
        </p:nvSpPr>
        <p:spPr>
          <a:xfrm>
            <a:off x="8138160" y="1720328"/>
            <a:ext cx="3520441" cy="3840481"/>
          </a:xfrm>
          <a:prstGeom prst="roundRect">
            <a:avLst>
              <a:gd name="adj" fmla="val 2078"/>
            </a:avLst>
          </a:prstGeom>
          <a:solidFill>
            <a:srgbClr val="EAF4F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1" name="Text 19"/>
          <p:cNvSpPr txBox="1"/>
          <p:nvPr/>
        </p:nvSpPr>
        <p:spPr>
          <a:xfrm>
            <a:off x="8412480" y="2233929"/>
            <a:ext cx="297180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Visualization &amp; QC</a:t>
            </a:r>
          </a:p>
        </p:txBody>
      </p:sp>
      <p:sp>
        <p:nvSpPr>
          <p:cNvPr id="202" name="Shape 20"/>
          <p:cNvSpPr/>
          <p:nvPr/>
        </p:nvSpPr>
        <p:spPr>
          <a:xfrm>
            <a:off x="8412480" y="2862072"/>
            <a:ext cx="82297" cy="82297"/>
          </a:xfrm>
          <a:prstGeom prst="ellipse">
            <a:avLst/>
          </a:prstGeom>
          <a:solidFill>
            <a:srgbClr val="1C729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3" name="Text 21"/>
          <p:cNvSpPr txBox="1"/>
          <p:nvPr/>
        </p:nvSpPr>
        <p:spPr>
          <a:xfrm>
            <a:off x="8641080" y="2865935"/>
            <a:ext cx="27432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A2733"/>
                </a:solidFill>
              </a:defRPr>
            </a:lvl1pPr>
          </a:lstStyle>
          <a:p>
            <a:pPr/>
            <a:r>
              <a:t>Matplotlib</a:t>
            </a:r>
          </a:p>
        </p:txBody>
      </p:sp>
      <p:sp>
        <p:nvSpPr>
          <p:cNvPr id="204" name="Shape 22"/>
          <p:cNvSpPr/>
          <p:nvPr/>
        </p:nvSpPr>
        <p:spPr>
          <a:xfrm>
            <a:off x="8412480" y="3221862"/>
            <a:ext cx="82297" cy="82297"/>
          </a:xfrm>
          <a:prstGeom prst="ellipse">
            <a:avLst/>
          </a:prstGeom>
          <a:solidFill>
            <a:srgbClr val="1C729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5" name="Text 23"/>
          <p:cNvSpPr txBox="1"/>
          <p:nvPr/>
        </p:nvSpPr>
        <p:spPr>
          <a:xfrm>
            <a:off x="8633460" y="3184578"/>
            <a:ext cx="27432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A2733"/>
                </a:solidFill>
              </a:defRPr>
            </a:lvl1pPr>
          </a:lstStyle>
          <a:p>
            <a:pPr/>
            <a:r>
              <a:t>Interactive gather viewer</a:t>
            </a:r>
          </a:p>
        </p:txBody>
      </p:sp>
      <p:sp>
        <p:nvSpPr>
          <p:cNvPr id="206" name="Shape 24"/>
          <p:cNvSpPr/>
          <p:nvPr/>
        </p:nvSpPr>
        <p:spPr>
          <a:xfrm>
            <a:off x="8412480" y="3558665"/>
            <a:ext cx="82297" cy="82297"/>
          </a:xfrm>
          <a:prstGeom prst="ellipse">
            <a:avLst/>
          </a:prstGeom>
          <a:solidFill>
            <a:srgbClr val="1C729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7" name="Text 25"/>
          <p:cNvSpPr txBox="1"/>
          <p:nvPr/>
        </p:nvSpPr>
        <p:spPr>
          <a:xfrm>
            <a:off x="8641080" y="3509984"/>
            <a:ext cx="27432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A2733"/>
                </a:solidFill>
              </a:defRPr>
            </a:lvl1pPr>
          </a:lstStyle>
          <a:p>
            <a:pPr/>
            <a:r>
              <a:t>Jupyter notebooks</a:t>
            </a:r>
          </a:p>
        </p:txBody>
      </p:sp>
      <p:sp>
        <p:nvSpPr>
          <p:cNvPr id="208" name="Text 26"/>
          <p:cNvSpPr txBox="1"/>
          <p:nvPr/>
        </p:nvSpPr>
        <p:spPr>
          <a:xfrm>
            <a:off x="11365992" y="6446564"/>
            <a:ext cx="54864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5A6B78"/>
                </a:solidFill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209" name="HDF5 seismic datasets"/>
          <p:cNvSpPr txBox="1"/>
          <p:nvPr/>
        </p:nvSpPr>
        <p:spPr>
          <a:xfrm>
            <a:off x="1012863" y="3821257"/>
            <a:ext cx="1479313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solidFill>
                  <a:srgbClr val="1A2733"/>
                </a:solidFill>
              </a:defRPr>
            </a:lvl1pPr>
          </a:lstStyle>
          <a:p>
            <a:pPr/>
            <a:r>
              <a:t>HDF5 seismic datasets</a:t>
            </a:r>
          </a:p>
        </p:txBody>
      </p:sp>
      <p:sp>
        <p:nvSpPr>
          <p:cNvPr id="210" name="Trace &amp; gather preprocessing"/>
          <p:cNvSpPr txBox="1"/>
          <p:nvPr/>
        </p:nvSpPr>
        <p:spPr>
          <a:xfrm>
            <a:off x="1012863" y="4211520"/>
            <a:ext cx="1904514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solidFill>
                  <a:srgbClr val="1A2733"/>
                </a:solidFill>
              </a:defRPr>
            </a:lvl1pPr>
          </a:lstStyle>
          <a:p>
            <a:pPr/>
            <a:r>
              <a:t>Trace &amp; gather preprocessing</a:t>
            </a:r>
          </a:p>
        </p:txBody>
      </p:sp>
      <p:sp>
        <p:nvSpPr>
          <p:cNvPr id="211" name="Label alignment &amp; validation"/>
          <p:cNvSpPr txBox="1"/>
          <p:nvPr/>
        </p:nvSpPr>
        <p:spPr>
          <a:xfrm>
            <a:off x="1012863" y="4602226"/>
            <a:ext cx="1869093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solidFill>
                  <a:srgbClr val="1A2733"/>
                </a:solidFill>
              </a:defRPr>
            </a:lvl1pPr>
          </a:lstStyle>
          <a:p>
            <a:pPr/>
            <a:r>
              <a:t>Label alignment &amp; validation</a:t>
            </a:r>
          </a:p>
        </p:txBody>
      </p:sp>
      <p:sp>
        <p:nvSpPr>
          <p:cNvPr id="212" name="Text 17"/>
          <p:cNvSpPr txBox="1"/>
          <p:nvPr/>
        </p:nvSpPr>
        <p:spPr>
          <a:xfrm>
            <a:off x="4846320" y="3858182"/>
            <a:ext cx="27432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E4EFF4"/>
                </a:solidFill>
              </a:defRPr>
            </a:lvl1pPr>
          </a:lstStyle>
          <a:p>
            <a:pPr/>
            <a:r>
              <a:t>MobileUNet architecture</a:t>
            </a:r>
          </a:p>
        </p:txBody>
      </p:sp>
      <p:sp>
        <p:nvSpPr>
          <p:cNvPr id="213" name="Text 17"/>
          <p:cNvSpPr txBox="1"/>
          <p:nvPr/>
        </p:nvSpPr>
        <p:spPr>
          <a:xfrm>
            <a:off x="4846320" y="4201461"/>
            <a:ext cx="27432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E4EFF4"/>
                </a:solidFill>
              </a:defRPr>
            </a:lvl1pPr>
          </a:lstStyle>
          <a:p>
            <a:pPr/>
            <a:r>
              <a:t>MPS-based training</a:t>
            </a:r>
          </a:p>
        </p:txBody>
      </p:sp>
      <p:sp>
        <p:nvSpPr>
          <p:cNvPr id="214" name="Text 17"/>
          <p:cNvSpPr txBox="1"/>
          <p:nvPr/>
        </p:nvSpPr>
        <p:spPr>
          <a:xfrm>
            <a:off x="4846320" y="4544739"/>
            <a:ext cx="27432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E4EFF4"/>
                </a:solidFill>
              </a:defRPr>
            </a:lvl1pPr>
          </a:lstStyle>
          <a:p>
            <a:pPr/>
            <a:r>
              <a:t>MLflow experiment tracking</a:t>
            </a:r>
          </a:p>
        </p:txBody>
      </p:sp>
      <p:sp>
        <p:nvSpPr>
          <p:cNvPr id="215" name="Shape 16"/>
          <p:cNvSpPr/>
          <p:nvPr/>
        </p:nvSpPr>
        <p:spPr>
          <a:xfrm>
            <a:off x="4617720" y="3904262"/>
            <a:ext cx="82297" cy="82297"/>
          </a:xfrm>
          <a:prstGeom prst="ellipse">
            <a:avLst/>
          </a:prstGeom>
          <a:solidFill>
            <a:srgbClr val="7FD1E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6" name="Shape 16"/>
          <p:cNvSpPr/>
          <p:nvPr/>
        </p:nvSpPr>
        <p:spPr>
          <a:xfrm>
            <a:off x="4617720" y="4238745"/>
            <a:ext cx="82297" cy="82297"/>
          </a:xfrm>
          <a:prstGeom prst="ellipse">
            <a:avLst/>
          </a:prstGeom>
          <a:solidFill>
            <a:srgbClr val="7FD1E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7" name="Shape 16"/>
          <p:cNvSpPr/>
          <p:nvPr/>
        </p:nvSpPr>
        <p:spPr>
          <a:xfrm>
            <a:off x="4617720" y="4582024"/>
            <a:ext cx="82297" cy="82297"/>
          </a:xfrm>
          <a:prstGeom prst="ellipse">
            <a:avLst/>
          </a:prstGeom>
          <a:solidFill>
            <a:srgbClr val="7FD1E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8" name="Shape 8"/>
          <p:cNvSpPr/>
          <p:nvPr/>
        </p:nvSpPr>
        <p:spPr>
          <a:xfrm>
            <a:off x="822959" y="3904262"/>
            <a:ext cx="82297" cy="82297"/>
          </a:xfrm>
          <a:prstGeom prst="ellipse">
            <a:avLst/>
          </a:prstGeom>
          <a:solidFill>
            <a:srgbClr val="1C729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9" name="Shape 8"/>
          <p:cNvSpPr/>
          <p:nvPr/>
        </p:nvSpPr>
        <p:spPr>
          <a:xfrm>
            <a:off x="822959" y="4294524"/>
            <a:ext cx="82297" cy="82297"/>
          </a:xfrm>
          <a:prstGeom prst="ellipse">
            <a:avLst/>
          </a:prstGeom>
          <a:solidFill>
            <a:srgbClr val="1C729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0" name="Shape 8"/>
          <p:cNvSpPr/>
          <p:nvPr/>
        </p:nvSpPr>
        <p:spPr>
          <a:xfrm>
            <a:off x="822959" y="4685231"/>
            <a:ext cx="82297" cy="82297"/>
          </a:xfrm>
          <a:prstGeom prst="ellipse">
            <a:avLst/>
          </a:prstGeom>
          <a:solidFill>
            <a:srgbClr val="1C729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1" name="Text 25"/>
          <p:cNvSpPr txBox="1"/>
          <p:nvPr/>
        </p:nvSpPr>
        <p:spPr>
          <a:xfrm>
            <a:off x="8641080" y="3821257"/>
            <a:ext cx="27432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A2733"/>
                </a:solidFill>
              </a:defRPr>
            </a:lvl1pPr>
          </a:lstStyle>
          <a:p>
            <a:pPr/>
            <a:r>
              <a:t>TensorBoard</a:t>
            </a:r>
          </a:p>
        </p:txBody>
      </p:sp>
      <p:sp>
        <p:nvSpPr>
          <p:cNvPr id="222" name="Text 25"/>
          <p:cNvSpPr txBox="1"/>
          <p:nvPr/>
        </p:nvSpPr>
        <p:spPr>
          <a:xfrm>
            <a:off x="8641080" y="4157005"/>
            <a:ext cx="27432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A2733"/>
                </a:solidFill>
              </a:defRPr>
            </a:lvl1pPr>
          </a:lstStyle>
          <a:p>
            <a:pPr/>
            <a:r>
              <a:t>Training / validation curves</a:t>
            </a:r>
          </a:p>
        </p:txBody>
      </p:sp>
      <p:sp>
        <p:nvSpPr>
          <p:cNvPr id="223" name="Text 25"/>
          <p:cNvSpPr txBox="1"/>
          <p:nvPr/>
        </p:nvSpPr>
        <p:spPr>
          <a:xfrm>
            <a:off x="8641080" y="4460897"/>
            <a:ext cx="2743201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A2733"/>
                </a:solidFill>
              </a:defRPr>
            </a:lvl1pPr>
          </a:lstStyle>
          <a:p>
            <a:pPr/>
            <a:r>
              <a:t>Prediction &amp; first-break QC plots notebooks</a:t>
            </a:r>
          </a:p>
        </p:txBody>
      </p:sp>
      <p:sp>
        <p:nvSpPr>
          <p:cNvPr id="224" name="Shape 24"/>
          <p:cNvSpPr/>
          <p:nvPr/>
        </p:nvSpPr>
        <p:spPr>
          <a:xfrm>
            <a:off x="8412480" y="3858542"/>
            <a:ext cx="82297" cy="82297"/>
          </a:xfrm>
          <a:prstGeom prst="ellipse">
            <a:avLst/>
          </a:prstGeom>
          <a:solidFill>
            <a:srgbClr val="1C729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5" name="Shape 24"/>
          <p:cNvSpPr/>
          <p:nvPr/>
        </p:nvSpPr>
        <p:spPr>
          <a:xfrm>
            <a:off x="8412480" y="4194289"/>
            <a:ext cx="82297" cy="82297"/>
          </a:xfrm>
          <a:prstGeom prst="ellipse">
            <a:avLst/>
          </a:prstGeom>
          <a:solidFill>
            <a:srgbClr val="1C729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6" name="Shape 24"/>
          <p:cNvSpPr/>
          <p:nvPr/>
        </p:nvSpPr>
        <p:spPr>
          <a:xfrm>
            <a:off x="8412480" y="4498181"/>
            <a:ext cx="82297" cy="82297"/>
          </a:xfrm>
          <a:prstGeom prst="ellipse">
            <a:avLst/>
          </a:prstGeom>
          <a:solidFill>
            <a:srgbClr val="1C729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Text 22"/>
          <p:cNvSpPr txBox="1"/>
          <p:nvPr/>
        </p:nvSpPr>
        <p:spPr>
          <a:xfrm>
            <a:off x="11365992" y="6446564"/>
            <a:ext cx="54864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5A6B78"/>
                </a:solidFill>
              </a:defRPr>
            </a:lvl1pPr>
          </a:lstStyle>
          <a:p>
            <a:pPr/>
            <a:r>
              <a:t>07</a:t>
            </a:r>
          </a:p>
        </p:txBody>
      </p:sp>
      <p:pic>
        <p:nvPicPr>
          <p:cNvPr id="229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7160" y="110068"/>
            <a:ext cx="11344313" cy="606110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Text 0"/>
          <p:cNvSpPr txBox="1"/>
          <p:nvPr/>
        </p:nvSpPr>
        <p:spPr>
          <a:xfrm>
            <a:off x="548640" y="561647"/>
            <a:ext cx="73152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200">
                <a:solidFill>
                  <a:srgbClr val="1C7293"/>
                </a:solidFill>
              </a:defRPr>
            </a:lvl1pPr>
          </a:lstStyle>
          <a:p>
            <a:pPr/>
            <a:r>
              <a:t>06 · EVALUATION</a:t>
            </a:r>
          </a:p>
        </p:txBody>
      </p:sp>
      <p:sp>
        <p:nvSpPr>
          <p:cNvPr id="232" name="Text 1"/>
          <p:cNvSpPr txBox="1"/>
          <p:nvPr/>
        </p:nvSpPr>
        <p:spPr>
          <a:xfrm>
            <a:off x="548639" y="953769"/>
            <a:ext cx="11064242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200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Metrics</a:t>
            </a:r>
          </a:p>
        </p:txBody>
      </p:sp>
      <p:sp>
        <p:nvSpPr>
          <p:cNvPr id="233" name="Text 2"/>
          <p:cNvSpPr txBox="1"/>
          <p:nvPr/>
        </p:nvSpPr>
        <p:spPr>
          <a:xfrm>
            <a:off x="548639" y="1836859"/>
            <a:ext cx="1106424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300">
                <a:solidFill>
                  <a:srgbClr val="1A2733"/>
                </a:solidFill>
              </a:defRPr>
            </a:lvl1pPr>
          </a:lstStyle>
          <a:p>
            <a:pPr/>
            <a:r>
              <a:t>Model output is compared against the expert-labeled SPARE1 times. The metrics below are computed per asset and in aggregate across all assets.</a:t>
            </a:r>
          </a:p>
        </p:txBody>
      </p:sp>
      <p:sp>
        <p:nvSpPr>
          <p:cNvPr id="234" name="Shape 3"/>
          <p:cNvSpPr/>
          <p:nvPr/>
        </p:nvSpPr>
        <p:spPr>
          <a:xfrm>
            <a:off x="548640" y="2423160"/>
            <a:ext cx="2606040" cy="2286001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5875">
            <a:solidFill>
              <a:srgbClr val="D5E4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5" name="Shape 4"/>
          <p:cNvSpPr/>
          <p:nvPr/>
        </p:nvSpPr>
        <p:spPr>
          <a:xfrm>
            <a:off x="548640" y="2423160"/>
            <a:ext cx="2606040" cy="82297"/>
          </a:xfrm>
          <a:prstGeom prst="rect">
            <a:avLst/>
          </a:prstGeom>
          <a:solidFill>
            <a:srgbClr val="065A8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6" name="Text 5"/>
          <p:cNvSpPr txBox="1"/>
          <p:nvPr/>
        </p:nvSpPr>
        <p:spPr>
          <a:xfrm>
            <a:off x="1394260" y="2733955"/>
            <a:ext cx="1048119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Model</a:t>
            </a:r>
          </a:p>
        </p:txBody>
      </p:sp>
      <p:sp>
        <p:nvSpPr>
          <p:cNvPr id="237" name="Text 6"/>
          <p:cNvSpPr txBox="1"/>
          <p:nvPr/>
        </p:nvSpPr>
        <p:spPr>
          <a:xfrm>
            <a:off x="731520" y="3254555"/>
            <a:ext cx="2240280" cy="34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C7293"/>
                </a:solidFill>
              </a:defRPr>
            </a:lvl1pPr>
          </a:lstStyle>
          <a:p>
            <a:pPr/>
            <a:r>
              <a:t>IoU,F1,Accuracy,Recall,Precision,Train/Val Loss</a:t>
            </a:r>
          </a:p>
        </p:txBody>
      </p:sp>
      <p:sp>
        <p:nvSpPr>
          <p:cNvPr id="238" name="Text 7"/>
          <p:cNvSpPr txBox="1"/>
          <p:nvPr/>
        </p:nvSpPr>
        <p:spPr>
          <a:xfrm>
            <a:off x="731520" y="3830420"/>
            <a:ext cx="2240281" cy="781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defTabSz="457200">
              <a:spcBef>
                <a:spcPts val="1200"/>
              </a:spcBef>
              <a:defRPr i="1" sz="11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Core metrics for evaluating segmentation quality and training stability.</a:t>
            </a:r>
            <a:endParaRPr i="0"/>
          </a:p>
        </p:txBody>
      </p:sp>
      <p:sp>
        <p:nvSpPr>
          <p:cNvPr id="239" name="Shape 8"/>
          <p:cNvSpPr/>
          <p:nvPr/>
        </p:nvSpPr>
        <p:spPr>
          <a:xfrm>
            <a:off x="3410711" y="2423160"/>
            <a:ext cx="2606041" cy="2286001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5875">
            <a:solidFill>
              <a:srgbClr val="D5E4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0" name="Shape 9"/>
          <p:cNvSpPr/>
          <p:nvPr/>
        </p:nvSpPr>
        <p:spPr>
          <a:xfrm>
            <a:off x="3410711" y="2423160"/>
            <a:ext cx="2606041" cy="82297"/>
          </a:xfrm>
          <a:prstGeom prst="rect">
            <a:avLst/>
          </a:prstGeom>
          <a:solidFill>
            <a:srgbClr val="1C729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1" name="Text 10"/>
          <p:cNvSpPr txBox="1"/>
          <p:nvPr/>
        </p:nvSpPr>
        <p:spPr>
          <a:xfrm>
            <a:off x="4240763" y="2733955"/>
            <a:ext cx="1136756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System </a:t>
            </a:r>
          </a:p>
        </p:txBody>
      </p:sp>
      <p:sp>
        <p:nvSpPr>
          <p:cNvPr id="242" name="Text 11"/>
          <p:cNvSpPr txBox="1"/>
          <p:nvPr/>
        </p:nvSpPr>
        <p:spPr>
          <a:xfrm>
            <a:off x="3593591" y="3254555"/>
            <a:ext cx="224028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C7293"/>
                </a:solidFill>
              </a:defRPr>
            </a:lvl1pPr>
          </a:lstStyle>
          <a:p>
            <a:pPr/>
            <a:r>
              <a:t>Memory Usage &amp;Performance</a:t>
            </a:r>
          </a:p>
        </p:txBody>
      </p:sp>
      <p:sp>
        <p:nvSpPr>
          <p:cNvPr id="243" name="Text 12"/>
          <p:cNvSpPr txBox="1"/>
          <p:nvPr/>
        </p:nvSpPr>
        <p:spPr>
          <a:xfrm>
            <a:off x="3593591" y="3904287"/>
            <a:ext cx="2240281" cy="3295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000">
                <a:solidFill>
                  <a:srgbClr val="5A6B78"/>
                </a:solidFill>
              </a:defRPr>
            </a:lvl1pPr>
          </a:lstStyle>
          <a:p>
            <a:pPr/>
            <a:r>
              <a:t>Tracks how much memory the model uses and how fast it runs.</a:t>
            </a:r>
          </a:p>
        </p:txBody>
      </p:sp>
      <p:sp>
        <p:nvSpPr>
          <p:cNvPr id="244" name="Shape 13"/>
          <p:cNvSpPr/>
          <p:nvPr/>
        </p:nvSpPr>
        <p:spPr>
          <a:xfrm>
            <a:off x="6272784" y="2423160"/>
            <a:ext cx="2606041" cy="2286001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5875">
            <a:solidFill>
              <a:srgbClr val="D5E4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5" name="Shape 14"/>
          <p:cNvSpPr/>
          <p:nvPr/>
        </p:nvSpPr>
        <p:spPr>
          <a:xfrm>
            <a:off x="6272784" y="2423160"/>
            <a:ext cx="2606041" cy="82297"/>
          </a:xfrm>
          <a:prstGeom prst="rect">
            <a:avLst/>
          </a:prstGeom>
          <a:solidFill>
            <a:srgbClr val="21295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6" name="Text 15"/>
          <p:cNvSpPr txBox="1"/>
          <p:nvPr/>
        </p:nvSpPr>
        <p:spPr>
          <a:xfrm>
            <a:off x="6455663" y="2761742"/>
            <a:ext cx="2240281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First Break Picking</a:t>
            </a:r>
          </a:p>
        </p:txBody>
      </p:sp>
      <p:sp>
        <p:nvSpPr>
          <p:cNvPr id="247" name="Text 16"/>
          <p:cNvSpPr txBox="1"/>
          <p:nvPr/>
        </p:nvSpPr>
        <p:spPr>
          <a:xfrm>
            <a:off x="6410773" y="3254555"/>
            <a:ext cx="2330063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C7293"/>
                </a:solidFill>
              </a:defRPr>
            </a:lvl1pPr>
          </a:lstStyle>
          <a:p>
            <a:pPr/>
            <a:r>
              <a:t>Min, Max, Mean, Std absolute error</a:t>
            </a:r>
          </a:p>
        </p:txBody>
      </p:sp>
      <p:sp>
        <p:nvSpPr>
          <p:cNvPr id="248" name="Text 17"/>
          <p:cNvSpPr txBox="1"/>
          <p:nvPr/>
        </p:nvSpPr>
        <p:spPr>
          <a:xfrm>
            <a:off x="6455664" y="3904287"/>
            <a:ext cx="2240281" cy="3295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000">
                <a:solidFill>
                  <a:srgbClr val="5A6B78"/>
                </a:solidFill>
              </a:defRPr>
            </a:lvl1pPr>
          </a:lstStyle>
          <a:p>
            <a:pPr/>
            <a:r>
              <a:t>Summarizes the spread and average size of the timing error.</a:t>
            </a:r>
          </a:p>
        </p:txBody>
      </p:sp>
      <p:sp>
        <p:nvSpPr>
          <p:cNvPr id="249" name="Shape 18"/>
          <p:cNvSpPr/>
          <p:nvPr/>
        </p:nvSpPr>
        <p:spPr>
          <a:xfrm>
            <a:off x="9134856" y="2423160"/>
            <a:ext cx="2606041" cy="2286001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5875">
            <a:solidFill>
              <a:srgbClr val="D5E4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0" name="Shape 19"/>
          <p:cNvSpPr/>
          <p:nvPr/>
        </p:nvSpPr>
        <p:spPr>
          <a:xfrm>
            <a:off x="9134856" y="2423160"/>
            <a:ext cx="2606041" cy="82297"/>
          </a:xfrm>
          <a:prstGeom prst="rect">
            <a:avLst/>
          </a:prstGeom>
          <a:solidFill>
            <a:srgbClr val="3E7CA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1" name="Text 20"/>
          <p:cNvSpPr txBox="1"/>
          <p:nvPr/>
        </p:nvSpPr>
        <p:spPr>
          <a:xfrm>
            <a:off x="10004327" y="2761742"/>
            <a:ext cx="2240281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Data</a:t>
            </a:r>
          </a:p>
        </p:txBody>
      </p:sp>
      <p:sp>
        <p:nvSpPr>
          <p:cNvPr id="252" name="Text 21"/>
          <p:cNvSpPr txBox="1"/>
          <p:nvPr/>
        </p:nvSpPr>
        <p:spPr>
          <a:xfrm>
            <a:off x="9317735" y="3210132"/>
            <a:ext cx="2240281" cy="537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C7293"/>
                </a:solidFill>
              </a:defRPr>
            </a:lvl1pPr>
          </a:lstStyle>
          <a:p>
            <a:pPr/>
            <a:r>
              <a:t>Ratio, trace/sample count, invalid picks</a:t>
            </a:r>
          </a:p>
        </p:txBody>
      </p:sp>
      <p:sp>
        <p:nvSpPr>
          <p:cNvPr id="253" name="Text 22"/>
          <p:cNvSpPr txBox="1"/>
          <p:nvPr/>
        </p:nvSpPr>
        <p:spPr>
          <a:xfrm>
            <a:off x="9404393" y="3797875"/>
            <a:ext cx="2240281" cy="13562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defTabSz="457200">
              <a:spcBef>
                <a:spcPts val="1200"/>
              </a:spcBef>
              <a:defRPr i="1"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Tracks how many picks are valid versus unreliable across traces.</a:t>
            </a:r>
            <a:endParaRPr i="0"/>
          </a:p>
          <a:p>
            <a:pPr defTabSz="457200"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defTabSz="457200"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defTabSz="457200"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defTabSz="457200"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</p:txBody>
      </p:sp>
      <p:sp>
        <p:nvSpPr>
          <p:cNvPr id="254" name="Text 23"/>
          <p:cNvSpPr txBox="1"/>
          <p:nvPr/>
        </p:nvSpPr>
        <p:spPr>
          <a:xfrm>
            <a:off x="548639" y="5189264"/>
            <a:ext cx="1106424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000">
                <a:solidFill>
                  <a:srgbClr val="5A6B78"/>
                </a:solidFill>
              </a:defRPr>
            </a:lvl1pPr>
          </a:lstStyle>
          <a:p>
            <a:pPr/>
            <a:r>
              <a:t>Note: fill in actual MAE and pick-rate figures here once validation results are available.</a:t>
            </a:r>
          </a:p>
        </p:txBody>
      </p:sp>
      <p:sp>
        <p:nvSpPr>
          <p:cNvPr id="255" name="Text 24"/>
          <p:cNvSpPr txBox="1"/>
          <p:nvPr/>
        </p:nvSpPr>
        <p:spPr>
          <a:xfrm>
            <a:off x="11365992" y="6446564"/>
            <a:ext cx="54864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5A6B78"/>
                </a:solidFill>
              </a:defRPr>
            </a:lvl1pPr>
          </a:lstStyle>
          <a:p>
            <a:pPr/>
            <a:r>
              <a:t>08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Text 1"/>
          <p:cNvSpPr txBox="1"/>
          <p:nvPr/>
        </p:nvSpPr>
        <p:spPr>
          <a:xfrm>
            <a:off x="475314" y="87406"/>
            <a:ext cx="11064241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200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Part Of Metrics Results </a:t>
            </a:r>
          </a:p>
        </p:txBody>
      </p:sp>
      <p:pic>
        <p:nvPicPr>
          <p:cNvPr id="258" name="picounet_epoch_20_halfmile_train_loss.png" descr="picounet_epoch_20_halfmile_train_loss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7966" y="3879384"/>
            <a:ext cx="4959110" cy="2479555"/>
          </a:xfrm>
          <a:prstGeom prst="rect">
            <a:avLst/>
          </a:prstGeom>
          <a:ln w="12700">
            <a:miter lim="400000"/>
          </a:ln>
        </p:spPr>
      </p:pic>
      <p:sp>
        <p:nvSpPr>
          <p:cNvPr id="259" name="Train Loss Pico U-Net"/>
          <p:cNvSpPr txBox="1"/>
          <p:nvPr/>
        </p:nvSpPr>
        <p:spPr>
          <a:xfrm>
            <a:off x="1098881" y="3469100"/>
            <a:ext cx="2172145" cy="3484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Train Loss Pico U-Net</a:t>
            </a:r>
          </a:p>
        </p:txBody>
      </p:sp>
      <p:pic>
        <p:nvPicPr>
          <p:cNvPr id="260" name="picounet_epoch_20_halfmile_val_loss.png" descr="picounet_epoch_20_halfmile_val_loss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399416" y="3844193"/>
            <a:ext cx="4709605" cy="2354803"/>
          </a:xfrm>
          <a:prstGeom prst="rect">
            <a:avLst/>
          </a:prstGeom>
          <a:ln w="12700">
            <a:miter lim="400000"/>
          </a:ln>
        </p:spPr>
      </p:pic>
      <p:sp>
        <p:nvSpPr>
          <p:cNvPr id="261" name="Validation Loss Pico U-Net"/>
          <p:cNvSpPr txBox="1"/>
          <p:nvPr/>
        </p:nvSpPr>
        <p:spPr>
          <a:xfrm>
            <a:off x="5161865" y="3469100"/>
            <a:ext cx="2624768" cy="3484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Validation Loss Pico U-Net</a:t>
            </a:r>
          </a:p>
        </p:txBody>
      </p:sp>
      <p:pic>
        <p:nvPicPr>
          <p:cNvPr id="262" name="picounet_epoch_20_halfmile_val_iou.png" descr="picounet_epoch_20_halfmile_val_iou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599648" y="3969158"/>
            <a:ext cx="4600014" cy="2300007"/>
          </a:xfrm>
          <a:prstGeom prst="rect">
            <a:avLst/>
          </a:prstGeom>
          <a:ln w="12700">
            <a:miter lim="400000"/>
          </a:ln>
        </p:spPr>
      </p:pic>
      <p:sp>
        <p:nvSpPr>
          <p:cNvPr id="263" name="Val IoU Pico U-Net"/>
          <p:cNvSpPr txBox="1"/>
          <p:nvPr/>
        </p:nvSpPr>
        <p:spPr>
          <a:xfrm>
            <a:off x="9185504" y="3469100"/>
            <a:ext cx="1913519" cy="3484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Val IoU Pico U-Net</a:t>
            </a:r>
          </a:p>
        </p:txBody>
      </p:sp>
      <p:pic>
        <p:nvPicPr>
          <p:cNvPr id="264" name="UNet_Halfmile_val_class_2_iou.png" descr="UNet_Halfmile_val_class_2_iou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8991470" y="912356"/>
            <a:ext cx="4709606" cy="2354803"/>
          </a:xfrm>
          <a:prstGeom prst="rect">
            <a:avLst/>
          </a:prstGeom>
          <a:ln w="12700">
            <a:miter lim="400000"/>
          </a:ln>
        </p:spPr>
      </p:pic>
      <p:pic>
        <p:nvPicPr>
          <p:cNvPr id="265" name="UNet_Halfmile_val_loss.png" descr="UNet_Halfmile_val_loss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4657184" y="1122385"/>
            <a:ext cx="4194069" cy="2097035"/>
          </a:xfrm>
          <a:prstGeom prst="rect">
            <a:avLst/>
          </a:prstGeom>
          <a:ln w="12700">
            <a:miter lim="400000"/>
          </a:ln>
        </p:spPr>
      </p:pic>
      <p:pic>
        <p:nvPicPr>
          <p:cNvPr id="266" name="UNet_Halfmile_train_loss.png" descr="UNet_Halfmile_train_loss.png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12524" y="1085617"/>
            <a:ext cx="4531505" cy="2265753"/>
          </a:xfrm>
          <a:prstGeom prst="rect">
            <a:avLst/>
          </a:prstGeom>
          <a:ln w="12700">
            <a:miter lim="400000"/>
          </a:ln>
        </p:spPr>
      </p:pic>
      <p:sp>
        <p:nvSpPr>
          <p:cNvPr id="267" name="Train Loss U-Net"/>
          <p:cNvSpPr txBox="1"/>
          <p:nvPr/>
        </p:nvSpPr>
        <p:spPr>
          <a:xfrm>
            <a:off x="1264003" y="524275"/>
            <a:ext cx="1708583" cy="3484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Train Loss U-Net</a:t>
            </a:r>
          </a:p>
        </p:txBody>
      </p:sp>
      <p:sp>
        <p:nvSpPr>
          <p:cNvPr id="268" name="Validation Loss U-Net"/>
          <p:cNvSpPr txBox="1"/>
          <p:nvPr/>
        </p:nvSpPr>
        <p:spPr>
          <a:xfrm>
            <a:off x="5214488" y="524275"/>
            <a:ext cx="2161206" cy="3484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Validation Loss U-Net</a:t>
            </a:r>
          </a:p>
        </p:txBody>
      </p:sp>
      <p:sp>
        <p:nvSpPr>
          <p:cNvPr id="269" name="Val IoU Loss U-Net"/>
          <p:cNvSpPr txBox="1"/>
          <p:nvPr/>
        </p:nvSpPr>
        <p:spPr>
          <a:xfrm>
            <a:off x="9332762" y="361985"/>
            <a:ext cx="1938969" cy="3484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Val IoU Loss U-Net</a:t>
            </a:r>
          </a:p>
        </p:txBody>
      </p:sp>
      <p:sp>
        <p:nvSpPr>
          <p:cNvPr id="270" name="Text 24"/>
          <p:cNvSpPr txBox="1"/>
          <p:nvPr/>
        </p:nvSpPr>
        <p:spPr>
          <a:xfrm>
            <a:off x="11365992" y="6446564"/>
            <a:ext cx="54864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5A6B78"/>
                </a:solidFill>
              </a:defRPr>
            </a:lvl1pPr>
          </a:lstStyle>
          <a:p>
            <a:pPr/>
            <a:r>
              <a:t>09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Text 0"/>
          <p:cNvSpPr txBox="1"/>
          <p:nvPr/>
        </p:nvSpPr>
        <p:spPr>
          <a:xfrm>
            <a:off x="488646" y="101697"/>
            <a:ext cx="73152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200">
                <a:solidFill>
                  <a:srgbClr val="1C7293"/>
                </a:solidFill>
              </a:defRPr>
            </a:lvl1pPr>
          </a:lstStyle>
          <a:p>
            <a:pPr/>
            <a:r>
              <a:t>07 · RESULTS</a:t>
            </a:r>
          </a:p>
        </p:txBody>
      </p:sp>
      <p:sp>
        <p:nvSpPr>
          <p:cNvPr id="273" name="Text 1"/>
          <p:cNvSpPr txBox="1"/>
          <p:nvPr/>
        </p:nvSpPr>
        <p:spPr>
          <a:xfrm>
            <a:off x="497220" y="313189"/>
            <a:ext cx="11064241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200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Prediction Results (U-Net Model Best One HalfMile Dataset)</a:t>
            </a:r>
          </a:p>
        </p:txBody>
      </p:sp>
      <p:sp>
        <p:nvSpPr>
          <p:cNvPr id="274" name="Text 4"/>
          <p:cNvSpPr txBox="1"/>
          <p:nvPr/>
        </p:nvSpPr>
        <p:spPr>
          <a:xfrm>
            <a:off x="7315200" y="2072639"/>
            <a:ext cx="36576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75" name="Text 12"/>
          <p:cNvSpPr txBox="1"/>
          <p:nvPr/>
        </p:nvSpPr>
        <p:spPr>
          <a:xfrm>
            <a:off x="11365992" y="6446564"/>
            <a:ext cx="54864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5A6B78"/>
                </a:solidFill>
              </a:defRPr>
            </a:lvl1pPr>
          </a:lstStyle>
          <a:p>
            <a:pPr/>
            <a:r>
              <a:t>10</a:t>
            </a:r>
          </a:p>
        </p:txBody>
      </p:sp>
      <p:pic>
        <p:nvPicPr>
          <p:cNvPr id="276" name="Bestone1UnetHalfmile.jpeg" descr="Bestone1UnetHalfmile.jpe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15327" y="896389"/>
            <a:ext cx="5930209" cy="2635237"/>
          </a:xfrm>
          <a:prstGeom prst="rect">
            <a:avLst/>
          </a:prstGeom>
          <a:ln w="12700">
            <a:miter lim="400000"/>
          </a:ln>
        </p:spPr>
      </p:pic>
      <p:pic>
        <p:nvPicPr>
          <p:cNvPr id="277" name="unethalfmile2.jpeg" descr="unethalfmile2.jpe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286064" y="942225"/>
            <a:ext cx="5723917" cy="2543566"/>
          </a:xfrm>
          <a:prstGeom prst="rect">
            <a:avLst/>
          </a:prstGeom>
          <a:ln w="12700">
            <a:miter lim="400000"/>
          </a:ln>
        </p:spPr>
      </p:pic>
      <p:pic>
        <p:nvPicPr>
          <p:cNvPr id="278" name="unet2yenihalfmile.jpeg" descr="unet2yenihalfmile.jpe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26332" y="3790206"/>
            <a:ext cx="6108199" cy="2714331"/>
          </a:xfrm>
          <a:prstGeom prst="rect">
            <a:avLst/>
          </a:prstGeom>
          <a:ln w="12700">
            <a:miter lim="400000"/>
          </a:ln>
        </p:spPr>
      </p:pic>
      <p:pic>
        <p:nvPicPr>
          <p:cNvPr id="279" name="yeni4halfmileunet.jpeg" descr="yeni4halfmileunet.jpe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6335815" y="3897696"/>
            <a:ext cx="5624416" cy="249935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Text 0"/>
          <p:cNvSpPr txBox="1"/>
          <p:nvPr/>
        </p:nvSpPr>
        <p:spPr>
          <a:xfrm>
            <a:off x="488646" y="101697"/>
            <a:ext cx="73152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200">
                <a:solidFill>
                  <a:srgbClr val="1C7293"/>
                </a:solidFill>
              </a:defRPr>
            </a:lvl1pPr>
          </a:lstStyle>
          <a:p>
            <a:pPr/>
            <a:r>
              <a:t>07 · RESULTS</a:t>
            </a:r>
          </a:p>
        </p:txBody>
      </p:sp>
      <p:sp>
        <p:nvSpPr>
          <p:cNvPr id="282" name="Text 1"/>
          <p:cNvSpPr txBox="1"/>
          <p:nvPr/>
        </p:nvSpPr>
        <p:spPr>
          <a:xfrm>
            <a:off x="375332" y="451106"/>
            <a:ext cx="11441335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200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Prediction Results (Pico U-Net Model Worst One HalfMile Dataset)</a:t>
            </a:r>
          </a:p>
        </p:txBody>
      </p:sp>
      <p:pic>
        <p:nvPicPr>
          <p:cNvPr id="283" name="picounet_epoch_5_halfmile_prediction_1.png" descr="picounet_epoch_5_halfmile_prediction_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6652" y="1113550"/>
            <a:ext cx="6096505" cy="2006688"/>
          </a:xfrm>
          <a:prstGeom prst="rect">
            <a:avLst/>
          </a:prstGeom>
          <a:ln w="12700">
            <a:miter lim="400000"/>
          </a:ln>
        </p:spPr>
      </p:pic>
      <p:pic>
        <p:nvPicPr>
          <p:cNvPr id="284" name="picounet_epoch_20_halfmile_prediction_2.png" descr="picounet_epoch_20_halfmile_prediction_2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1753" y="3609449"/>
            <a:ext cx="6186303" cy="2036244"/>
          </a:xfrm>
          <a:prstGeom prst="rect">
            <a:avLst/>
          </a:prstGeom>
          <a:ln w="12700">
            <a:miter lim="400000"/>
          </a:ln>
        </p:spPr>
      </p:pic>
      <p:pic>
        <p:nvPicPr>
          <p:cNvPr id="285" name="picounet_epoch_20_halfmile_prediction_3.png" descr="picounet_epoch_20_halfmile_prediction_3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450675" y="1182872"/>
            <a:ext cx="5675296" cy="1868044"/>
          </a:xfrm>
          <a:prstGeom prst="rect">
            <a:avLst/>
          </a:prstGeom>
          <a:ln w="12700">
            <a:miter lim="400000"/>
          </a:ln>
        </p:spPr>
      </p:pic>
      <p:pic>
        <p:nvPicPr>
          <p:cNvPr id="286" name="picounet_epoch_15_halfmile_prediction_4.png" descr="picounet_epoch_15_halfmile_prediction_4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6450674" y="3693549"/>
            <a:ext cx="5675298" cy="1868045"/>
          </a:xfrm>
          <a:prstGeom prst="rect">
            <a:avLst/>
          </a:prstGeom>
          <a:ln w="12700">
            <a:miter lim="400000"/>
          </a:ln>
        </p:spPr>
      </p:pic>
      <p:sp>
        <p:nvSpPr>
          <p:cNvPr id="287" name="Text 24"/>
          <p:cNvSpPr txBox="1"/>
          <p:nvPr/>
        </p:nvSpPr>
        <p:spPr>
          <a:xfrm>
            <a:off x="11365992" y="6446564"/>
            <a:ext cx="54864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5A6B78"/>
                </a:solidFill>
              </a:defRPr>
            </a:lvl1pPr>
          </a:lstStyle>
          <a:p>
            <a:pPr/>
            <a:r>
              <a:t>11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Text 0"/>
          <p:cNvSpPr txBox="1"/>
          <p:nvPr/>
        </p:nvSpPr>
        <p:spPr>
          <a:xfrm>
            <a:off x="455316" y="81700"/>
            <a:ext cx="7315201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200">
                <a:solidFill>
                  <a:srgbClr val="1C7293"/>
                </a:solidFill>
              </a:defRPr>
            </a:lvl1pPr>
          </a:lstStyle>
          <a:p>
            <a:pPr/>
            <a:r>
              <a:t>09 · Further</a:t>
            </a:r>
          </a:p>
        </p:txBody>
      </p:sp>
      <p:sp>
        <p:nvSpPr>
          <p:cNvPr id="290" name="Text 1"/>
          <p:cNvSpPr txBox="1"/>
          <p:nvPr/>
        </p:nvSpPr>
        <p:spPr>
          <a:xfrm>
            <a:off x="1381882" y="607287"/>
            <a:ext cx="2295382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200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Limitations</a:t>
            </a:r>
          </a:p>
        </p:txBody>
      </p:sp>
      <p:sp>
        <p:nvSpPr>
          <p:cNvPr id="291" name="Shape 2"/>
          <p:cNvSpPr/>
          <p:nvPr/>
        </p:nvSpPr>
        <p:spPr>
          <a:xfrm>
            <a:off x="415321" y="1445910"/>
            <a:ext cx="5349241" cy="4114801"/>
          </a:xfrm>
          <a:prstGeom prst="roundRect">
            <a:avLst>
              <a:gd name="adj" fmla="val 1778"/>
            </a:avLst>
          </a:prstGeom>
          <a:solidFill>
            <a:srgbClr val="EAF4F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2" name="Shape 5"/>
          <p:cNvSpPr/>
          <p:nvPr/>
        </p:nvSpPr>
        <p:spPr>
          <a:xfrm>
            <a:off x="662035" y="2286000"/>
            <a:ext cx="91441" cy="91441"/>
          </a:xfrm>
          <a:prstGeom prst="ellipse">
            <a:avLst/>
          </a:prstGeom>
          <a:solidFill>
            <a:srgbClr val="1C729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3" name="Text 6"/>
          <p:cNvSpPr txBox="1"/>
          <p:nvPr/>
        </p:nvSpPr>
        <p:spPr>
          <a:xfrm>
            <a:off x="872521" y="2105551"/>
            <a:ext cx="4434841" cy="5849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5000"/>
              </a:lnSpc>
              <a:defRPr sz="1200">
                <a:solidFill>
                  <a:srgbClr val="21295C"/>
                </a:solidFill>
              </a:defRPr>
            </a:pPr>
            <a:r>
              <a:rPr b="1"/>
              <a:t>Limited Training Resources:</a:t>
            </a:r>
            <a:r>
              <a:t> The required training hardware was not provided, and no dedicated compute resources were allocated for model training.</a:t>
            </a:r>
          </a:p>
        </p:txBody>
      </p:sp>
      <p:sp>
        <p:nvSpPr>
          <p:cNvPr id="294" name="Shape 7"/>
          <p:cNvSpPr/>
          <p:nvPr/>
        </p:nvSpPr>
        <p:spPr>
          <a:xfrm>
            <a:off x="662035" y="3157410"/>
            <a:ext cx="91441" cy="91441"/>
          </a:xfrm>
          <a:prstGeom prst="ellipse">
            <a:avLst/>
          </a:prstGeom>
          <a:solidFill>
            <a:srgbClr val="1C729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5" name="Text 8"/>
          <p:cNvSpPr txBox="1"/>
          <p:nvPr/>
        </p:nvSpPr>
        <p:spPr>
          <a:xfrm>
            <a:off x="872521" y="2910668"/>
            <a:ext cx="4434841" cy="5849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5000"/>
              </a:lnSpc>
              <a:defRPr sz="1200">
                <a:solidFill>
                  <a:srgbClr val="21295C"/>
                </a:solidFill>
              </a:defRPr>
            </a:pPr>
            <a:r>
              <a:rPr b="1"/>
              <a:t>High Memory Consumption:</a:t>
            </a:r>
            <a:r>
              <a:t> Our models tend to retain a significant amount of memory, creating deployment and storage challenges, particularly due to the large size of the seismic datasets.</a:t>
            </a:r>
          </a:p>
        </p:txBody>
      </p:sp>
      <p:sp>
        <p:nvSpPr>
          <p:cNvPr id="296" name="Shape 9"/>
          <p:cNvSpPr/>
          <p:nvPr/>
        </p:nvSpPr>
        <p:spPr>
          <a:xfrm>
            <a:off x="608708" y="3944927"/>
            <a:ext cx="91441" cy="91441"/>
          </a:xfrm>
          <a:prstGeom prst="ellipse">
            <a:avLst/>
          </a:prstGeom>
          <a:solidFill>
            <a:srgbClr val="1C729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7" name="Text 10"/>
          <p:cNvSpPr txBox="1"/>
          <p:nvPr/>
        </p:nvSpPr>
        <p:spPr>
          <a:xfrm>
            <a:off x="872521" y="3745979"/>
            <a:ext cx="4434841" cy="5849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5000"/>
              </a:lnSpc>
              <a:defRPr sz="1200">
                <a:solidFill>
                  <a:srgbClr val="21295C"/>
                </a:solidFill>
              </a:defRPr>
            </a:pPr>
            <a:r>
              <a:rPr b="1"/>
              <a:t>CPU Limitations:</a:t>
            </a:r>
            <a:r>
              <a:t> The available systems have limited CPU capacity, making frequent CPU access for processing and feeding large datasets into the training pipeline inefficient.</a:t>
            </a:r>
          </a:p>
        </p:txBody>
      </p:sp>
      <p:sp>
        <p:nvSpPr>
          <p:cNvPr id="298" name="Shape 11"/>
          <p:cNvSpPr/>
          <p:nvPr/>
        </p:nvSpPr>
        <p:spPr>
          <a:xfrm>
            <a:off x="6172200" y="1398116"/>
            <a:ext cx="5349241" cy="4537482"/>
          </a:xfrm>
          <a:prstGeom prst="roundRect">
            <a:avLst>
              <a:gd name="adj" fmla="val 1612"/>
            </a:avLst>
          </a:prstGeom>
          <a:solidFill>
            <a:srgbClr val="065A8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9" name="Shape 14"/>
          <p:cNvSpPr/>
          <p:nvPr/>
        </p:nvSpPr>
        <p:spPr>
          <a:xfrm>
            <a:off x="6398917" y="1933698"/>
            <a:ext cx="91441" cy="91441"/>
          </a:xfrm>
          <a:prstGeom prst="ellipse">
            <a:avLst/>
          </a:prstGeom>
          <a:solidFill>
            <a:srgbClr val="7FD1E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0" name="Text 15"/>
          <p:cNvSpPr txBox="1"/>
          <p:nvPr/>
        </p:nvSpPr>
        <p:spPr>
          <a:xfrm>
            <a:off x="6629400" y="5126366"/>
            <a:ext cx="4434841" cy="5849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5000"/>
              </a:lnSpc>
              <a:defRPr sz="1200">
                <a:solidFill>
                  <a:srgbClr val="FFFFFF"/>
                </a:solidFill>
              </a:defRPr>
            </a:pPr>
            <a:r>
              <a:rPr b="1"/>
              <a:t>Robust Training &amp; Experiment Pipeline:</a:t>
            </a:r>
            <a:r>
              <a:t> We developed structured training, evaluation, checkpointing, logging, and experiment-tracking components to make experiments more reproducible and systematic.</a:t>
            </a:r>
          </a:p>
        </p:txBody>
      </p:sp>
      <p:sp>
        <p:nvSpPr>
          <p:cNvPr id="301" name="Shape 16"/>
          <p:cNvSpPr/>
          <p:nvPr/>
        </p:nvSpPr>
        <p:spPr>
          <a:xfrm>
            <a:off x="6398917" y="2830925"/>
            <a:ext cx="91441" cy="91441"/>
          </a:xfrm>
          <a:prstGeom prst="ellipse">
            <a:avLst/>
          </a:prstGeom>
          <a:solidFill>
            <a:srgbClr val="7FD1E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2" name="Text 17"/>
          <p:cNvSpPr txBox="1"/>
          <p:nvPr/>
        </p:nvSpPr>
        <p:spPr>
          <a:xfrm>
            <a:off x="6629400" y="3374394"/>
            <a:ext cx="4434841" cy="5849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5000"/>
              </a:lnSpc>
              <a:defRPr sz="1200">
                <a:solidFill>
                  <a:srgbClr val="FFFFFF"/>
                </a:solidFill>
              </a:defRPr>
            </a:pPr>
            <a:r>
              <a:rPr b="1"/>
              <a:t>Memory-Efficient Training:</a:t>
            </a:r>
            <a:r>
              <a:t> We implemented chunk-based processing, optimized data loading, and lightweight configurations to handle large seismic datasets under memory constraints.</a:t>
            </a:r>
          </a:p>
        </p:txBody>
      </p:sp>
      <p:sp>
        <p:nvSpPr>
          <p:cNvPr id="303" name="Shape 18"/>
          <p:cNvSpPr/>
          <p:nvPr/>
        </p:nvSpPr>
        <p:spPr>
          <a:xfrm>
            <a:off x="6398917" y="3728151"/>
            <a:ext cx="91441" cy="91441"/>
          </a:xfrm>
          <a:prstGeom prst="ellipse">
            <a:avLst/>
          </a:prstGeom>
          <a:solidFill>
            <a:srgbClr val="7FD1E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4" name="Text 19"/>
          <p:cNvSpPr txBox="1"/>
          <p:nvPr/>
        </p:nvSpPr>
        <p:spPr>
          <a:xfrm>
            <a:off x="6629400" y="4164606"/>
            <a:ext cx="4434841" cy="5849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5000"/>
              </a:lnSpc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Multiple Model Comparison: We evaluated different architectures, including U-Net, Light U-Net, Efficient U-Net, and MobileNet-based models, rather than relying on a single model.</a:t>
            </a:r>
          </a:p>
        </p:txBody>
      </p:sp>
      <p:sp>
        <p:nvSpPr>
          <p:cNvPr id="305" name="Text 20"/>
          <p:cNvSpPr txBox="1"/>
          <p:nvPr/>
        </p:nvSpPr>
        <p:spPr>
          <a:xfrm>
            <a:off x="11365992" y="6446564"/>
            <a:ext cx="54864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5A6B78"/>
                </a:solidFill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306" name="Text 10"/>
          <p:cNvSpPr txBox="1"/>
          <p:nvPr/>
        </p:nvSpPr>
        <p:spPr>
          <a:xfrm>
            <a:off x="872521" y="4533710"/>
            <a:ext cx="4434841" cy="7989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5000"/>
              </a:lnSpc>
              <a:defRPr sz="1200">
                <a:solidFill>
                  <a:srgbClr val="21295C"/>
                </a:solidFill>
              </a:defRPr>
            </a:pPr>
            <a:r>
              <a:rPr b="1"/>
              <a:t>GPU Limitations:</a:t>
            </a:r>
            <a:r>
              <a:t> GPU resources were also constrained by insufficient VRAM and computational capacity. The provided A100 GPU was migrated to a </a:t>
            </a:r>
            <a:r>
              <a:rPr b="1"/>
              <a:t>42 SM configuration</a:t>
            </a:r>
            <a:r>
              <a:t>, which limited the available computing power for large-scale model training.</a:t>
            </a:r>
          </a:p>
        </p:txBody>
      </p:sp>
      <p:sp>
        <p:nvSpPr>
          <p:cNvPr id="307" name="Shape 9"/>
          <p:cNvSpPr/>
          <p:nvPr/>
        </p:nvSpPr>
        <p:spPr>
          <a:xfrm>
            <a:off x="662035" y="4732444"/>
            <a:ext cx="91441" cy="91441"/>
          </a:xfrm>
          <a:prstGeom prst="ellipse">
            <a:avLst/>
          </a:prstGeom>
          <a:solidFill>
            <a:srgbClr val="1C729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8" name="Text 1"/>
          <p:cNvSpPr txBox="1"/>
          <p:nvPr/>
        </p:nvSpPr>
        <p:spPr>
          <a:xfrm>
            <a:off x="6241697" y="658011"/>
            <a:ext cx="5634028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200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Our Strengths &amp; Improvements</a:t>
            </a:r>
          </a:p>
        </p:txBody>
      </p:sp>
      <p:sp>
        <p:nvSpPr>
          <p:cNvPr id="309" name="Text 15"/>
          <p:cNvSpPr txBox="1"/>
          <p:nvPr/>
        </p:nvSpPr>
        <p:spPr>
          <a:xfrm>
            <a:off x="6629400" y="1579941"/>
            <a:ext cx="4434841" cy="7989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5000"/>
              </a:lnSpc>
              <a:defRPr sz="1200">
                <a:solidFill>
                  <a:srgbClr val="FFFFFF"/>
                </a:solidFill>
              </a:defRPr>
            </a:pPr>
            <a:r>
              <a:rPr b="1"/>
              <a:t>Efficient Model Design:</a:t>
            </a:r>
            <a:r>
              <a:t> We developed and evaluated multiple lightweight U-Net-based architectures to balance model performance with limited computational resources.1D/2D CNN — per-trace time segmentation</a:t>
            </a:r>
          </a:p>
        </p:txBody>
      </p:sp>
      <p:sp>
        <p:nvSpPr>
          <p:cNvPr id="310" name="Text 15"/>
          <p:cNvSpPr txBox="1"/>
          <p:nvPr/>
        </p:nvSpPr>
        <p:spPr>
          <a:xfrm>
            <a:off x="6629400" y="2584183"/>
            <a:ext cx="4434841" cy="5849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5000"/>
              </a:lnSpc>
              <a:defRPr sz="1200">
                <a:solidFill>
                  <a:srgbClr val="FFFFFF"/>
                </a:solidFill>
              </a:defRPr>
            </a:pPr>
            <a:r>
              <a:rPr b="1"/>
              <a:t>Multi-Dataset Evaluation:</a:t>
            </a:r>
            <a:r>
              <a:t> We worked with four real seismic datasets — </a:t>
            </a:r>
            <a:r>
              <a:rPr b="1"/>
              <a:t>Halfmile, Lalor, Brunswick, and Sudbury</a:t>
            </a:r>
            <a:r>
              <a:t> — providing broader evaluation across different data characteristics.</a:t>
            </a:r>
          </a:p>
        </p:txBody>
      </p:sp>
      <p:sp>
        <p:nvSpPr>
          <p:cNvPr id="311" name="Shape 18"/>
          <p:cNvSpPr/>
          <p:nvPr/>
        </p:nvSpPr>
        <p:spPr>
          <a:xfrm>
            <a:off x="6398917" y="4487604"/>
            <a:ext cx="91441" cy="91441"/>
          </a:xfrm>
          <a:prstGeom prst="ellipse">
            <a:avLst/>
          </a:prstGeom>
          <a:solidFill>
            <a:srgbClr val="7FD1E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2" name="Shape 18"/>
          <p:cNvSpPr/>
          <p:nvPr/>
        </p:nvSpPr>
        <p:spPr>
          <a:xfrm>
            <a:off x="6398917" y="5248148"/>
            <a:ext cx="91441" cy="91441"/>
          </a:xfrm>
          <a:prstGeom prst="ellipse">
            <a:avLst/>
          </a:prstGeom>
          <a:solidFill>
            <a:srgbClr val="7FD1E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Shape 0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21295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5" name="Text 1"/>
          <p:cNvSpPr txBox="1"/>
          <p:nvPr/>
        </p:nvSpPr>
        <p:spPr>
          <a:xfrm>
            <a:off x="731519" y="653087"/>
            <a:ext cx="73152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200">
                <a:solidFill>
                  <a:srgbClr val="7FD1E8"/>
                </a:solidFill>
              </a:defRPr>
            </a:lvl1pPr>
          </a:lstStyle>
          <a:p>
            <a:pPr/>
            <a:r>
              <a:t>11-12 · CONCLUSION</a:t>
            </a:r>
          </a:p>
        </p:txBody>
      </p:sp>
      <p:sp>
        <p:nvSpPr>
          <p:cNvPr id="316" name="Text 2"/>
          <p:cNvSpPr txBox="1"/>
          <p:nvPr/>
        </p:nvSpPr>
        <p:spPr>
          <a:xfrm>
            <a:off x="731519" y="1070609"/>
            <a:ext cx="10515601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Achieved results vs. planned goals</a:t>
            </a:r>
          </a:p>
        </p:txBody>
      </p:sp>
      <p:sp>
        <p:nvSpPr>
          <p:cNvPr id="317" name="Shape 3"/>
          <p:cNvSpPr/>
          <p:nvPr/>
        </p:nvSpPr>
        <p:spPr>
          <a:xfrm>
            <a:off x="731519" y="1920239"/>
            <a:ext cx="5212081" cy="3108961"/>
          </a:xfrm>
          <a:prstGeom prst="roundRect">
            <a:avLst>
              <a:gd name="adj" fmla="val 2353"/>
            </a:avLst>
          </a:prstGeom>
          <a:solidFill>
            <a:srgbClr val="1A2456"/>
          </a:solidFill>
          <a:ln w="12700">
            <a:solidFill>
              <a:srgbClr val="35447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8" name="Text 4"/>
          <p:cNvSpPr txBox="1"/>
          <p:nvPr/>
        </p:nvSpPr>
        <p:spPr>
          <a:xfrm>
            <a:off x="1005839" y="2256789"/>
            <a:ext cx="4663442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7FD1E8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Planned</a:t>
            </a:r>
          </a:p>
        </p:txBody>
      </p:sp>
      <p:sp>
        <p:nvSpPr>
          <p:cNvPr id="319" name="Shape 5"/>
          <p:cNvSpPr/>
          <p:nvPr/>
        </p:nvSpPr>
        <p:spPr>
          <a:xfrm>
            <a:off x="1005839" y="2862072"/>
            <a:ext cx="91441" cy="91441"/>
          </a:xfrm>
          <a:prstGeom prst="ellipse">
            <a:avLst/>
          </a:prstGeom>
          <a:solidFill>
            <a:srgbClr val="7FD1E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0" name="Text 6"/>
          <p:cNvSpPr txBox="1"/>
          <p:nvPr/>
        </p:nvSpPr>
        <p:spPr>
          <a:xfrm>
            <a:off x="1261872" y="2934515"/>
            <a:ext cx="438912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200">
                <a:solidFill>
                  <a:srgbClr val="E4EFF4"/>
                </a:solidFill>
              </a:defRPr>
            </a:lvl1pPr>
          </a:lstStyle>
          <a:p>
            <a:pPr/>
            <a:r>
              <a:t>A single, automated pipeline across all 4 assets</a:t>
            </a:r>
          </a:p>
        </p:txBody>
      </p:sp>
      <p:sp>
        <p:nvSpPr>
          <p:cNvPr id="321" name="Shape 7"/>
          <p:cNvSpPr/>
          <p:nvPr/>
        </p:nvSpPr>
        <p:spPr>
          <a:xfrm>
            <a:off x="1005839" y="3593591"/>
            <a:ext cx="91441" cy="91441"/>
          </a:xfrm>
          <a:prstGeom prst="ellipse">
            <a:avLst/>
          </a:prstGeom>
          <a:solidFill>
            <a:srgbClr val="7FD1E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2" name="Text 8"/>
          <p:cNvSpPr txBox="1"/>
          <p:nvPr/>
        </p:nvSpPr>
        <p:spPr>
          <a:xfrm>
            <a:off x="1261872" y="3666035"/>
            <a:ext cx="438912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200">
                <a:solidFill>
                  <a:srgbClr val="E4EFF4"/>
                </a:solidFill>
              </a:defRPr>
            </a:lvl1pPr>
          </a:lstStyle>
          <a:p>
            <a:pPr/>
            <a:r>
              <a:t>Consistent accuracy across varying SNR conditions</a:t>
            </a:r>
          </a:p>
        </p:txBody>
      </p:sp>
      <p:sp>
        <p:nvSpPr>
          <p:cNvPr id="323" name="Shape 9"/>
          <p:cNvSpPr/>
          <p:nvPr/>
        </p:nvSpPr>
        <p:spPr>
          <a:xfrm>
            <a:off x="1005839" y="4325111"/>
            <a:ext cx="91441" cy="91441"/>
          </a:xfrm>
          <a:prstGeom prst="ellipse">
            <a:avLst/>
          </a:prstGeom>
          <a:solidFill>
            <a:srgbClr val="7FD1E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4" name="Text 10"/>
          <p:cNvSpPr txBox="1"/>
          <p:nvPr/>
        </p:nvSpPr>
        <p:spPr>
          <a:xfrm>
            <a:off x="1261872" y="4397555"/>
            <a:ext cx="438912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200">
                <a:solidFill>
                  <a:srgbClr val="E4EFF4"/>
                </a:solidFill>
              </a:defRPr>
            </a:lvl1pPr>
          </a:lstStyle>
          <a:p>
            <a:pPr/>
            <a:r>
              <a:t>Significantly reduce expert manual effort</a:t>
            </a:r>
          </a:p>
        </p:txBody>
      </p:sp>
      <p:sp>
        <p:nvSpPr>
          <p:cNvPr id="325" name="Shape 11"/>
          <p:cNvSpPr/>
          <p:nvPr/>
        </p:nvSpPr>
        <p:spPr>
          <a:xfrm>
            <a:off x="6263640" y="1920239"/>
            <a:ext cx="5212081" cy="3108961"/>
          </a:xfrm>
          <a:prstGeom prst="roundRect">
            <a:avLst>
              <a:gd name="adj" fmla="val 2353"/>
            </a:avLst>
          </a:prstGeom>
          <a:solidFill>
            <a:srgbClr val="065A82"/>
          </a:solidFill>
          <a:ln w="12700">
            <a:solidFill>
              <a:srgbClr val="35447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6" name="Text 12"/>
          <p:cNvSpPr txBox="1"/>
          <p:nvPr/>
        </p:nvSpPr>
        <p:spPr>
          <a:xfrm>
            <a:off x="6537959" y="2256789"/>
            <a:ext cx="466344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7FD1E8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Achieved</a:t>
            </a:r>
          </a:p>
        </p:txBody>
      </p:sp>
      <p:sp>
        <p:nvSpPr>
          <p:cNvPr id="327" name="Shape 13"/>
          <p:cNvSpPr/>
          <p:nvPr/>
        </p:nvSpPr>
        <p:spPr>
          <a:xfrm>
            <a:off x="6537959" y="2862072"/>
            <a:ext cx="91441" cy="91441"/>
          </a:xfrm>
          <a:prstGeom prst="ellipse">
            <a:avLst/>
          </a:prstGeom>
          <a:solidFill>
            <a:srgbClr val="7FD1E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8" name="Text 14"/>
          <p:cNvSpPr txBox="1"/>
          <p:nvPr/>
        </p:nvSpPr>
        <p:spPr>
          <a:xfrm>
            <a:off x="6793992" y="2934515"/>
            <a:ext cx="438912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200">
                <a:solidFill>
                  <a:srgbClr val="E4EFF4"/>
                </a:solidFill>
              </a:defRPr>
            </a:lvl1pPr>
          </a:lstStyle>
          <a:p>
            <a:pPr/>
            <a:r>
              <a:t>Gather-based data preparation pipeline completed</a:t>
            </a:r>
          </a:p>
        </p:txBody>
      </p:sp>
      <p:sp>
        <p:nvSpPr>
          <p:cNvPr id="329" name="Shape 15"/>
          <p:cNvSpPr/>
          <p:nvPr/>
        </p:nvSpPr>
        <p:spPr>
          <a:xfrm>
            <a:off x="6537959" y="3593591"/>
            <a:ext cx="91441" cy="91441"/>
          </a:xfrm>
          <a:prstGeom prst="ellipse">
            <a:avLst/>
          </a:prstGeom>
          <a:solidFill>
            <a:srgbClr val="7FD1E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0" name="Text 16"/>
          <p:cNvSpPr txBox="1"/>
          <p:nvPr/>
        </p:nvSpPr>
        <p:spPr>
          <a:xfrm>
            <a:off x="6793992" y="3666035"/>
            <a:ext cx="438912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200">
                <a:solidFill>
                  <a:srgbClr val="E4EFF4"/>
                </a:solidFill>
              </a:defRPr>
            </a:lvl1pPr>
          </a:lstStyle>
          <a:p>
            <a:pPr/>
            <a:r>
              <a:t>Baseline and deep-learning models built and compared</a:t>
            </a:r>
          </a:p>
        </p:txBody>
      </p:sp>
      <p:sp>
        <p:nvSpPr>
          <p:cNvPr id="331" name="Shape 17"/>
          <p:cNvSpPr/>
          <p:nvPr/>
        </p:nvSpPr>
        <p:spPr>
          <a:xfrm>
            <a:off x="6537959" y="4325111"/>
            <a:ext cx="91441" cy="91441"/>
          </a:xfrm>
          <a:prstGeom prst="ellipse">
            <a:avLst/>
          </a:prstGeom>
          <a:solidFill>
            <a:srgbClr val="7FD1E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2" name="Text 18"/>
          <p:cNvSpPr txBox="1"/>
          <p:nvPr/>
        </p:nvSpPr>
        <p:spPr>
          <a:xfrm>
            <a:off x="6793992" y="4397555"/>
            <a:ext cx="438912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200">
                <a:solidFill>
                  <a:srgbClr val="E4EFF4"/>
                </a:solidFill>
              </a:defRPr>
            </a:lvl1pPr>
          </a:lstStyle>
          <a:p>
            <a:pPr/>
            <a:r>
              <a:t>Cross-asset validation results presented</a:t>
            </a:r>
          </a:p>
        </p:txBody>
      </p:sp>
      <p:sp>
        <p:nvSpPr>
          <p:cNvPr id="333" name="Shape 19"/>
          <p:cNvSpPr/>
          <p:nvPr/>
        </p:nvSpPr>
        <p:spPr>
          <a:xfrm>
            <a:off x="731519" y="5349240"/>
            <a:ext cx="10698482" cy="1"/>
          </a:xfrm>
          <a:prstGeom prst="line">
            <a:avLst/>
          </a:prstGeom>
          <a:ln w="12700">
            <a:solidFill>
              <a:srgbClr val="35447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4" name="Text 20"/>
          <p:cNvSpPr txBox="1"/>
          <p:nvPr/>
        </p:nvSpPr>
        <p:spPr>
          <a:xfrm>
            <a:off x="731519" y="5623560"/>
            <a:ext cx="7315201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Thank You!</a:t>
            </a:r>
          </a:p>
        </p:txBody>
      </p:sp>
      <p:sp>
        <p:nvSpPr>
          <p:cNvPr id="335" name="Text 21"/>
          <p:cNvSpPr txBox="1"/>
          <p:nvPr/>
        </p:nvSpPr>
        <p:spPr>
          <a:xfrm>
            <a:off x="731519" y="6180258"/>
            <a:ext cx="731520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9FB3C8"/>
                </a:solidFill>
              </a:defRPr>
            </a:lvl1pPr>
          </a:lstStyle>
          <a:p>
            <a:pPr/>
            <a:r>
              <a:t>We welcome your questions</a:t>
            </a:r>
          </a:p>
        </p:txBody>
      </p:sp>
      <p:sp>
        <p:nvSpPr>
          <p:cNvPr id="336" name="Text 22"/>
          <p:cNvSpPr txBox="1"/>
          <p:nvPr/>
        </p:nvSpPr>
        <p:spPr>
          <a:xfrm>
            <a:off x="11365992" y="6446564"/>
            <a:ext cx="54864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9FB3C8"/>
                </a:solidFill>
              </a:defRPr>
            </a:lvl1pPr>
          </a:lstStyle>
          <a:p>
            <a:pPr/>
            <a:r>
              <a:t>12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